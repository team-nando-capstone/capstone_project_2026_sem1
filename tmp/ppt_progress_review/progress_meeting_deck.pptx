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f1fd2801b0441f" /><Relationship Type="http://schemas.openxmlformats.org/officeDocument/2006/relationships/extended-properties" Target="/docProps/app.xml" Id="R7a29e513a2d44377" /><Relationship Type="http://schemas.openxmlformats.org/officeDocument/2006/relationships/officeDocument" Target="/ppt/presentation.xml" Id="R87dc1262999d42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f8607826cc4870"/>
  </p:sldMasterIdLst>
  <p:notesMasterIdLst>
    <p:notesMasterId xmlns:r="http://schemas.openxmlformats.org/officeDocument/2006/relationships" r:id="R5f6a90b1587e44b8"/>
  </p:notesMasterIdLst>
  <p:sldIdLst>
    <p:sldId xmlns:r="http://schemas.openxmlformats.org/officeDocument/2006/relationships" id="256" r:id="R202099f0d4d841ed"/>
    <p:sldId xmlns:r="http://schemas.openxmlformats.org/officeDocument/2006/relationships" id="257" r:id="R544dad5d817347e7"/>
    <p:sldId xmlns:r="http://schemas.openxmlformats.org/officeDocument/2006/relationships" id="258" r:id="R8bc6fd90dc24481a"/>
    <p:sldId xmlns:r="http://schemas.openxmlformats.org/officeDocument/2006/relationships" id="259" r:id="Rb860b0f804fc4ea1"/>
    <p:sldId xmlns:r="http://schemas.openxmlformats.org/officeDocument/2006/relationships" id="260" r:id="R412d4fc5f7c340e4"/>
    <p:sldId xmlns:r="http://schemas.openxmlformats.org/officeDocument/2006/relationships" id="261" r:id="R8772057383e04f4d"/>
    <p:sldId xmlns:r="http://schemas.openxmlformats.org/officeDocument/2006/relationships" id="262" r:id="R13ffe4af74f14ebc"/>
    <p:sldId xmlns:r="http://schemas.openxmlformats.org/officeDocument/2006/relationships" id="263" r:id="R4898e93d31264316"/>
    <p:sldId xmlns:r="http://schemas.openxmlformats.org/officeDocument/2006/relationships" id="264" r:id="R0764057a0bfb4c84"/>
    <p:sldId xmlns:r="http://schemas.openxmlformats.org/officeDocument/2006/relationships" id="265" r:id="R7a92770d0ad5444f"/>
    <p:sldId xmlns:r="http://schemas.openxmlformats.org/officeDocument/2006/relationships" id="266" r:id="R47d769727e694ff7"/>
    <p:sldId xmlns:r="http://schemas.openxmlformats.org/officeDocument/2006/relationships" id="267" r:id="Rf730b328a4814273"/>
    <p:sldId xmlns:r="http://schemas.openxmlformats.org/officeDocument/2006/relationships" id="268" r:id="Ra1e01f9031da4fc2"/>
    <p:sldId xmlns:r="http://schemas.openxmlformats.org/officeDocument/2006/relationships" id="269" r:id="R950cf81447e04f46"/>
    <p:sldId xmlns:r="http://schemas.openxmlformats.org/officeDocument/2006/relationships" id="270" r:id="R5822d40663fa4c10"/>
    <p:sldId xmlns:r="http://schemas.openxmlformats.org/officeDocument/2006/relationships" id="271" r:id="R8db8be83cff2493b"/>
    <p:sldId xmlns:r="http://schemas.openxmlformats.org/officeDocument/2006/relationships" id="272" r:id="Rd1688fa7b73948f7"/>
    <p:sldId xmlns:r="http://schemas.openxmlformats.org/officeDocument/2006/relationships" id="273" r:id="R0ecca51d56214d26"/>
    <p:sldId xmlns:r="http://schemas.openxmlformats.org/officeDocument/2006/relationships" id="274" r:id="R02d82e8303fb4ce0"/>
    <p:sldId xmlns:r="http://schemas.openxmlformats.org/officeDocument/2006/relationships" id="275" r:id="R0c528d2884be495c"/>
    <p:sldId xmlns:r="http://schemas.openxmlformats.org/officeDocument/2006/relationships" id="276" r:id="Rfeb1ff6959994e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f8607826cc4870" /><Relationship Type="http://schemas.openxmlformats.org/officeDocument/2006/relationships/theme" Target="/ppt/theme/theme1.xml" Id="Rfd428dd4be124c85" /><Relationship Type="http://schemas.openxmlformats.org/officeDocument/2006/relationships/notesMaster" Target="/ppt/notesMasters/notesMaster1.xml" Id="R5f6a90b1587e44b8" /><Relationship Type="http://schemas.openxmlformats.org/officeDocument/2006/relationships/presProps" Target="/ppt/presProps.xml" Id="Rf5c7f01d4f824936" /><Relationship Type="http://schemas.openxmlformats.org/officeDocument/2006/relationships/viewProps" Target="/ppt/viewProps.xml" Id="R4703587485ee4250" /><Relationship Type="http://schemas.openxmlformats.org/officeDocument/2006/relationships/tableStyles" Target="/ppt/tableStyles.xml" Id="R1d1dbea195474fb4" /><Relationship Type="http://schemas.openxmlformats.org/officeDocument/2006/relationships/slide" Target="/ppt/slides/slide1.xml" Id="R202099f0d4d841ed" /><Relationship Type="http://schemas.openxmlformats.org/officeDocument/2006/relationships/slide" Target="/ppt/slides/slide2.xml" Id="R544dad5d817347e7" /><Relationship Type="http://schemas.openxmlformats.org/officeDocument/2006/relationships/slide" Target="/ppt/slides/slide3.xml" Id="R8bc6fd90dc24481a" /><Relationship Type="http://schemas.openxmlformats.org/officeDocument/2006/relationships/slide" Target="/ppt/slides/slide4.xml" Id="Rb860b0f804fc4ea1" /><Relationship Type="http://schemas.openxmlformats.org/officeDocument/2006/relationships/slide" Target="/ppt/slides/slide5.xml" Id="R412d4fc5f7c340e4" /><Relationship Type="http://schemas.openxmlformats.org/officeDocument/2006/relationships/slide" Target="/ppt/slides/slide6.xml" Id="R8772057383e04f4d" /><Relationship Type="http://schemas.openxmlformats.org/officeDocument/2006/relationships/slide" Target="/ppt/slides/slide7.xml" Id="R13ffe4af74f14ebc" /><Relationship Type="http://schemas.openxmlformats.org/officeDocument/2006/relationships/slide" Target="/ppt/slides/slide8.xml" Id="R4898e93d31264316" /><Relationship Type="http://schemas.openxmlformats.org/officeDocument/2006/relationships/slide" Target="/ppt/slides/slide9.xml" Id="R0764057a0bfb4c84" /><Relationship Type="http://schemas.openxmlformats.org/officeDocument/2006/relationships/slide" Target="/ppt/slides/slide10.xml" Id="R7a92770d0ad5444f" /><Relationship Type="http://schemas.openxmlformats.org/officeDocument/2006/relationships/slide" Target="/ppt/slides/slide11.xml" Id="R47d769727e694ff7" /><Relationship Type="http://schemas.openxmlformats.org/officeDocument/2006/relationships/slide" Target="/ppt/slides/slide12.xml" Id="Rf730b328a4814273" /><Relationship Type="http://schemas.openxmlformats.org/officeDocument/2006/relationships/slide" Target="/ppt/slides/slide13.xml" Id="Ra1e01f9031da4fc2" /><Relationship Type="http://schemas.openxmlformats.org/officeDocument/2006/relationships/slide" Target="/ppt/slides/slide14.xml" Id="R950cf81447e04f46" /><Relationship Type="http://schemas.openxmlformats.org/officeDocument/2006/relationships/slide" Target="/ppt/slides/slide15.xml" Id="R5822d40663fa4c10" /><Relationship Type="http://schemas.openxmlformats.org/officeDocument/2006/relationships/slide" Target="/ppt/slides/slide16.xml" Id="R8db8be83cff2493b" /><Relationship Type="http://schemas.openxmlformats.org/officeDocument/2006/relationships/slide" Target="/ppt/slides/slide17.xml" Id="Rd1688fa7b73948f7" /><Relationship Type="http://schemas.openxmlformats.org/officeDocument/2006/relationships/slide" Target="/ppt/slides/slide18.xml" Id="R0ecca51d56214d26" /><Relationship Type="http://schemas.openxmlformats.org/officeDocument/2006/relationships/slide" Target="/ppt/slides/slide19.xml" Id="R02d82e8303fb4ce0" /><Relationship Type="http://schemas.openxmlformats.org/officeDocument/2006/relationships/slide" Target="/ppt/slides/slide20.xml" Id="R0c528d2884be495c" /><Relationship Type="http://schemas.openxmlformats.org/officeDocument/2006/relationships/slide" Target="/ppt/slides/slide21.xml" Id="Rfeb1ff6959994e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a2f383323a84e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abffd8bd8940bd" /><Relationship Type="http://schemas.openxmlformats.org/officeDocument/2006/relationships/notesMaster" Target="/ppt/notesMasters/notesMaster1.xml" Id="R0b80bc48c96d41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844ddd1844411a" /><Relationship Type="http://schemas.openxmlformats.org/officeDocument/2006/relationships/notesMaster" Target="/ppt/notesMasters/notesMaster1.xml" Id="R74e9a41fe8464c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0e1925c98b4bca" /><Relationship Type="http://schemas.openxmlformats.org/officeDocument/2006/relationships/notesMaster" Target="/ppt/notesMasters/notesMaster1.xml" Id="R77b91fc20bb046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1730df85ad4066" /><Relationship Type="http://schemas.openxmlformats.org/officeDocument/2006/relationships/notesMaster" Target="/ppt/notesMasters/notesMaster1.xml" Id="R35e052e00a1340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204c233cef4ae8" /><Relationship Type="http://schemas.openxmlformats.org/officeDocument/2006/relationships/notesMaster" Target="/ppt/notesMasters/notesMaster1.xml" Id="R8a4de8e243644c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05bfd29dfc4e17" /><Relationship Type="http://schemas.openxmlformats.org/officeDocument/2006/relationships/notesMaster" Target="/ppt/notesMasters/notesMaster1.xml" Id="Rfc05528f7b2c4d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3faa2ca9274841" /><Relationship Type="http://schemas.openxmlformats.org/officeDocument/2006/relationships/notesMaster" Target="/ppt/notesMasters/notesMaster1.xml" Id="R667b968ccddf44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131a2b40784a55" /><Relationship Type="http://schemas.openxmlformats.org/officeDocument/2006/relationships/notesMaster" Target="/ppt/notesMasters/notesMaster1.xml" Id="Rd22c1c393f824b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7ed32edc9c42e3" /><Relationship Type="http://schemas.openxmlformats.org/officeDocument/2006/relationships/notesMaster" Target="/ppt/notesMasters/notesMaster1.xml" Id="Rd54c0f6327cc43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334b73d92e47a1" /><Relationship Type="http://schemas.openxmlformats.org/officeDocument/2006/relationships/notesMaster" Target="/ppt/notesMasters/notesMaster1.xml" Id="R07ac6bbd96bc4e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8edc4afe3544da" /><Relationship Type="http://schemas.openxmlformats.org/officeDocument/2006/relationships/notesMaster" Target="/ppt/notesMasters/notesMaster1.xml" Id="R879f4d3af3864c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5dec58fc6545a3" /><Relationship Type="http://schemas.openxmlformats.org/officeDocument/2006/relationships/notesMaster" Target="/ppt/notesMasters/notesMaster1.xml" Id="R359887b09e4d43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4493d0ed714a7f" /><Relationship Type="http://schemas.openxmlformats.org/officeDocument/2006/relationships/notesMaster" Target="/ppt/notesMasters/notesMaster1.xml" Id="R648d56f5888e42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2065cfcd634cdd" /><Relationship Type="http://schemas.openxmlformats.org/officeDocument/2006/relationships/notesMaster" Target="/ppt/notesMasters/notesMaster1.xml" Id="R5a3bf471854c4a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5b8eb01ae441f8" /><Relationship Type="http://schemas.openxmlformats.org/officeDocument/2006/relationships/notesMaster" Target="/ppt/notesMasters/notesMaster1.xml" Id="Rcffc0c97f35c4d5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f93041f46242ee" /><Relationship Type="http://schemas.openxmlformats.org/officeDocument/2006/relationships/notesMaster" Target="/ppt/notesMasters/notesMaster1.xml" Id="R0e5ffe40da2f49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91ed40bffd4f15" /><Relationship Type="http://schemas.openxmlformats.org/officeDocument/2006/relationships/notesMaster" Target="/ppt/notesMasters/notesMaster1.xml" Id="R0b0fbf97570449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660502cbfe401e" /><Relationship Type="http://schemas.openxmlformats.org/officeDocument/2006/relationships/notesMaster" Target="/ppt/notesMasters/notesMaster1.xml" Id="Rc8407743c0a24a9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f7abbe736034a06" /><Relationship Type="http://schemas.openxmlformats.org/officeDocument/2006/relationships/notesMaster" Target="/ppt/notesMasters/notesMaster1.xml" Id="R383b7b442279419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ec42a7035d6474b" /><Relationship Type="http://schemas.openxmlformats.org/officeDocument/2006/relationships/notesMaster" Target="/ppt/notesMasters/notesMaster1.xml" Id="Rc220eae0f2fa47d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5850c5fbf414b5b" /><Relationship Type="http://schemas.openxmlformats.org/officeDocument/2006/relationships/notesMaster" Target="/ppt/notesMasters/notesMaster1.xml" Id="R3e751db2666049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9278191cfe497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11be022dbe24a58" /><Relationship Type="http://schemas.openxmlformats.org/officeDocument/2006/relationships/slideLayout" Target="/ppt/slideLayouts/slideLayout2.xml" Id="R856d78de3a214c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6d78de3a214c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0cfa7f4dfa4f1d" /><Relationship Type="http://schemas.openxmlformats.org/officeDocument/2006/relationships/notesSlide" Target="/ppt/notesSlides/notesSlide1.xml" Id="R82b10bb331064d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5e3e24cdcf4944" /><Relationship Type="http://schemas.openxmlformats.org/officeDocument/2006/relationships/notesSlide" Target="/ppt/notesSlides/notesSlide2.xml" Id="Ra1a89b05e4bf43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438eac76554ad4" /><Relationship Type="http://schemas.openxmlformats.org/officeDocument/2006/relationships/notesSlide" Target="/ppt/notesSlides/notesSlide3.xml" Id="R470144478b4f4b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f9dfdb9fbb43c0" /><Relationship Type="http://schemas.openxmlformats.org/officeDocument/2006/relationships/image" Target="/ppt/media/image.png" Id="R90ca4b1e461f4dca" /><Relationship Type="http://schemas.openxmlformats.org/officeDocument/2006/relationships/notesSlide" Target="/ppt/notesSlides/notesSlide4.xml" Id="R044974a853474e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9997aa84174b57" /><Relationship Type="http://schemas.openxmlformats.org/officeDocument/2006/relationships/image" Target="/ppt/media/image2.png" Id="R428e4f10327c41f6" /><Relationship Type="http://schemas.openxmlformats.org/officeDocument/2006/relationships/notesSlide" Target="/ppt/notesSlides/notesSlide5.xml" Id="Rdbe42684ef4840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fe8eb71c404460" /><Relationship Type="http://schemas.openxmlformats.org/officeDocument/2006/relationships/image" Target="/ppt/media/image3.png" Id="R633b41c304f54ff4" /><Relationship Type="http://schemas.openxmlformats.org/officeDocument/2006/relationships/notesSlide" Target="/ppt/notesSlides/notesSlide6.xml" Id="R241dbcd9447743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b8b2acdfc3485f" /><Relationship Type="http://schemas.openxmlformats.org/officeDocument/2006/relationships/image" Target="/ppt/media/image4.png" Id="Rbbde795141bc4946" /><Relationship Type="http://schemas.openxmlformats.org/officeDocument/2006/relationships/notesSlide" Target="/ppt/notesSlides/notesSlide7.xml" Id="Rdd6fcc7bdfa848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4a4315905a4531" /><Relationship Type="http://schemas.openxmlformats.org/officeDocument/2006/relationships/image" Target="/ppt/media/image5.png" Id="R5da407b8a9fb4226" /><Relationship Type="http://schemas.openxmlformats.org/officeDocument/2006/relationships/notesSlide" Target="/ppt/notesSlides/notesSlide8.xml" Id="R62999dae9dad47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f532181c74413f" /><Relationship Type="http://schemas.openxmlformats.org/officeDocument/2006/relationships/image" Target="/ppt/media/image6.png" Id="Rd0eb945b2e63455b" /><Relationship Type="http://schemas.openxmlformats.org/officeDocument/2006/relationships/notesSlide" Target="/ppt/notesSlides/notesSlide9.xml" Id="R34e2421c213745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1e051b1d684417" /><Relationship Type="http://schemas.openxmlformats.org/officeDocument/2006/relationships/image" Target="/ppt/media/image7.png" Id="R4edcce24bb1d4eb6" /><Relationship Type="http://schemas.openxmlformats.org/officeDocument/2006/relationships/notesSlide" Target="/ppt/notesSlides/notesSlide10.xml" Id="R8e712107b03d4c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65b571c8214af6" /><Relationship Type="http://schemas.openxmlformats.org/officeDocument/2006/relationships/image" Target="/ppt/media/image8.png" Id="R4793533f89744e47" /><Relationship Type="http://schemas.openxmlformats.org/officeDocument/2006/relationships/notesSlide" Target="/ppt/notesSlides/notesSlide11.xml" Id="R11add7570fdb42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d1745b49864a43" /><Relationship Type="http://schemas.openxmlformats.org/officeDocument/2006/relationships/notesSlide" Target="/ppt/notesSlides/notesSlide12.xml" Id="R029ae9857ddc4e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05ad7b0ceb4119" /><Relationship Type="http://schemas.openxmlformats.org/officeDocument/2006/relationships/image" Target="/ppt/media/image9.png" Id="Rf335f30c28214fca" /><Relationship Type="http://schemas.openxmlformats.org/officeDocument/2006/relationships/notesSlide" Target="/ppt/notesSlides/notesSlide13.xml" Id="Ra7d55fa2273e49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fab1e9bbec472d" /><Relationship Type="http://schemas.openxmlformats.org/officeDocument/2006/relationships/image" Target="/ppt/media/image10.png" Id="Rb33a0f43775947a1" /><Relationship Type="http://schemas.openxmlformats.org/officeDocument/2006/relationships/image" Target="/ppt/media/image11.png" Id="R516058a1aadb4e07" /><Relationship Type="http://schemas.openxmlformats.org/officeDocument/2006/relationships/notesSlide" Target="/ppt/notesSlides/notesSlide14.xml" Id="R2938e8de0d834b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84f47e37294a24" /><Relationship Type="http://schemas.openxmlformats.org/officeDocument/2006/relationships/image" Target="/ppt/media/image12.png" Id="R67242e19646f4082" /><Relationship Type="http://schemas.openxmlformats.org/officeDocument/2006/relationships/image" Target="/ppt/media/image13.png" Id="Rbcf0a2624f5b45b4" /><Relationship Type="http://schemas.openxmlformats.org/officeDocument/2006/relationships/notesSlide" Target="/ppt/notesSlides/notesSlide15.xml" Id="R82be01ee476141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2dd9e0d005466c" /><Relationship Type="http://schemas.openxmlformats.org/officeDocument/2006/relationships/image" Target="/ppt/media/image14.png" Id="R232679db09684c89" /><Relationship Type="http://schemas.openxmlformats.org/officeDocument/2006/relationships/notesSlide" Target="/ppt/notesSlides/notesSlide16.xml" Id="R8afc6066436442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d9f9e5467949ef" /><Relationship Type="http://schemas.openxmlformats.org/officeDocument/2006/relationships/image" Target="/ppt/media/image15.png" Id="R95228e63818a4c4c" /><Relationship Type="http://schemas.openxmlformats.org/officeDocument/2006/relationships/notesSlide" Target="/ppt/notesSlides/notesSlide17.xml" Id="R857a6dc652f54e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14e2d7599a40f2" /><Relationship Type="http://schemas.openxmlformats.org/officeDocument/2006/relationships/notesSlide" Target="/ppt/notesSlides/notesSlide18.xml" Id="Re34cab0b99b348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69ddc9f4d1475d" /><Relationship Type="http://schemas.openxmlformats.org/officeDocument/2006/relationships/image" Target="/ppt/media/image16.png" Id="R4dc21433df3148e1" /><Relationship Type="http://schemas.openxmlformats.org/officeDocument/2006/relationships/image" Target="/ppt/media/image17.png" Id="Rfa8338ef9a844aaf" /><Relationship Type="http://schemas.openxmlformats.org/officeDocument/2006/relationships/image" Target="/ppt/media/image18.png" Id="Rd33e1619e2764d7f" /><Relationship Type="http://schemas.openxmlformats.org/officeDocument/2006/relationships/notesSlide" Target="/ppt/notesSlides/notesSlide19.xml" Id="R93f81dfc5a5a4f8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e39672d18b493a" /><Relationship Type="http://schemas.openxmlformats.org/officeDocument/2006/relationships/image" Target="/ppt/media/image19.png" Id="R2953d5849bcf476a" /><Relationship Type="http://schemas.openxmlformats.org/officeDocument/2006/relationships/image" Target="/ppt/media/image20.png" Id="Ra55dd881001341eb" /><Relationship Type="http://schemas.openxmlformats.org/officeDocument/2006/relationships/notesSlide" Target="/ppt/notesSlides/notesSlide20.xml" Id="R2b8ac68d7659496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d7133fc24f4739" /><Relationship Type="http://schemas.openxmlformats.org/officeDocument/2006/relationships/notesSlide" Target="/ppt/notesSlides/notesSlide21.xml" Id="Rbe387f62f21e40f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C8A2D8E-E39C-4494-B563-572AA0A0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1E133E79-E61A-43BD-A863-5784E5F1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66417AD1-D920-4C22-B2DD-6F5379DE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4DCE3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D4DCE3"/>
                </a:solidFill>
                <a:latin typeface="Segoe UI"/>
                <a:ea typeface="Segoe UI"/>
                <a:cs typeface="Segoe UI"/>
              </a:rPr>
              <a:t>CAPSTONE PROGRESS / NOTEBOOK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2028C-2D97-41A2-9320-95667ACD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5334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AI-Based Voltage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Estimation Tutorials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8E8B3-3710-4E76-BE0B-BC3722B8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E0E7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D8E0E7"/>
                </a:solidFill>
                <a:latin typeface="Segoe UI"/>
                <a:ea typeface="Segoe UI"/>
                <a:cs typeface="Segoe UI"/>
              </a:rPr>
              <a:t>The actual structure, code and outputs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634F4-7802-49E6-9592-6678CC5F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9C2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EB9C2"/>
                </a:solidFill>
                <a:latin typeface="Segoe UI"/>
                <a:ea typeface="Segoe UI"/>
                <a:cs typeface="Segoe UI"/>
              </a:rPr>
              <a:t>A beginner-facing neural-network tutorial for electrical engineering students</a:t>
            </a:r>
          </a:p>
        </p:txBody>
      </p:sp>
      <p:sp>
        <p:nvSpPr>
          <p:cNvPr id="7" name="p1-notebook">
            <a:extLst xmlns:a="http://schemas.openxmlformats.org/drawingml/2006/main">
              <a:ext uri="{FF2B5EF4-FFF2-40B4-BE49-F238E27FC236}">
                <a16:creationId xmlns:a16="http://schemas.microsoft.com/office/drawing/2014/main" id="{D35C5671-E72C-4B49-9F0E-1E9B736C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876300"/>
            <a:ext cx="53149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8" name="p1-notebook-bar">
            <a:extLst xmlns:a="http://schemas.openxmlformats.org/drawingml/2006/main">
              <a:ext uri="{FF2B5EF4-FFF2-40B4-BE49-F238E27FC236}">
                <a16:creationId xmlns:a16="http://schemas.microsoft.com/office/drawing/2014/main" id="{D6D96D89-C3F0-4A65-B247-D09C9089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876300"/>
            <a:ext cx="531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C9D5E-05BC-40EB-8AAA-35DDC3AC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933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Tutorial_1_LV_Voltage_Estimation.ipynb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6D69A-0AC1-4623-A34F-AD128347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478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>
              <a:alpha val="9412"/>
            </a:srgbClr>
          </a:solidFill>
          <a:ln xmlns:a="http://schemas.openxmlformats.org/drawingml/2006/main" w="9525">
            <a:solidFill>
              <a:srgbClr val="2457A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57A7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2457A7"/>
                </a:solidFill>
                <a:latin typeface="Segoe UI"/>
                <a:ea typeface="Segoe UI"/>
                <a:cs typeface="Segoe UI"/>
              </a:rPr>
              <a:t>PART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7DF18-A948-4CA0-B90F-00E9B8E0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66900"/>
            <a:ext cx="457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Neural Network-Based</a:t>
            </a:r>
          </a:p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LV Voltage Estimation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8F3E3-BEF8-4C2F-98DF-CE4184EB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Build and evaluate the first model</a:t>
            </a:r>
          </a:p>
        </p:txBody>
      </p:sp>
      <p:sp>
        <p:nvSpPr>
          <p:cNvPr id="13" name="p2-notebook">
            <a:extLst xmlns:a="http://schemas.openxmlformats.org/drawingml/2006/main">
              <a:ext uri="{FF2B5EF4-FFF2-40B4-BE49-F238E27FC236}">
                <a16:creationId xmlns:a16="http://schemas.microsoft.com/office/drawing/2014/main" id="{828C80F7-180D-4303-98CB-428329F5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3149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413A"/>
            </a:solidFill>
            <a:prstDash val="solid"/>
          </a:ln>
        </p:spPr>
      </p:sp>
      <p:sp>
        <p:nvSpPr>
          <p:cNvPr id="14" name="p2-notebook-bar">
            <a:extLst xmlns:a="http://schemas.openxmlformats.org/drawingml/2006/main">
              <a:ext uri="{FF2B5EF4-FFF2-40B4-BE49-F238E27FC236}">
                <a16:creationId xmlns:a16="http://schemas.microsoft.com/office/drawing/2014/main" id="{21320233-3255-46C3-96E4-A4A018D6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31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B5773-9CAB-4773-9AD5-5CEDD5DC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90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Tutorial_2_MV_Effects_Reference_Voltage.ipynb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95B85-D5DC-43F3-81F3-6D20E6D5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13A">
              <a:alpha val="9412"/>
            </a:srgbClr>
          </a:solidFill>
          <a:ln xmlns:a="http://schemas.openxmlformats.org/drawingml/2006/main" w="9525">
            <a:solidFill>
              <a:srgbClr val="B9413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9413A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B9413A"/>
                </a:solidFill>
                <a:latin typeface="Segoe UI"/>
                <a:ea typeface="Segoe UI"/>
                <a:cs typeface="Segoe UI"/>
              </a:rPr>
              <a:t>PART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C1B762-7D35-466C-92E3-717FF63C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24350"/>
            <a:ext cx="457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MV Effects and</a:t>
            </a:r>
          </a:p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Reference Voltage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E39B8-BC6B-4729-9A48-4BAF85A8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054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Diagnose and restore missing observability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94D614-CD50-4619-B045-7FDF91DA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0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5FAC1B-B129-4F8C-BB71-13543513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521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9C2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AEB9C2"/>
                </a:solidFill>
                <a:latin typeface="Segoe UI"/>
                <a:ea typeface="Segoe UI"/>
                <a:cs typeface="Segoe UI"/>
              </a:rPr>
              <a:t>Team Nando / Progress meeting / August 2026</a:t>
            </a:r>
          </a:p>
        </p:txBody>
      </p:sp>
      <p:sp>
        <p:nvSpPr>
          <p:cNvPr id="21" name="footer-1-rule">
            <a:extLst xmlns:a="http://schemas.openxmlformats.org/drawingml/2006/main">
              <a:ext uri="{FF2B5EF4-FFF2-40B4-BE49-F238E27FC236}">
                <a16:creationId xmlns:a16="http://schemas.microsoft.com/office/drawing/2014/main" id="{766BF9CC-369D-4E6F-BA08-80D6DA81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footer-1-source">
            <a:extLst xmlns:a="http://schemas.openxmlformats.org/drawingml/2006/main">
              <a:ext uri="{FF2B5EF4-FFF2-40B4-BE49-F238E27FC236}">
                <a16:creationId xmlns:a16="http://schemas.microsoft.com/office/drawing/2014/main" id="{14707DD0-D9C5-412F-806F-0D5DB01F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EABB6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9EABB6"/>
                </a:solidFill>
                <a:latin typeface="Segoe UI"/>
                <a:ea typeface="Segoe UI"/>
                <a:cs typeface="Segoe UI"/>
              </a:rPr>
              <a:t>Source: the two repository tutorial notebooks</a:t>
            </a:r>
          </a:p>
        </p:txBody>
      </p:sp>
      <p:sp>
        <p:nvSpPr>
          <p:cNvPr id="23" name="footer-1-number">
            <a:extLst xmlns:a="http://schemas.openxmlformats.org/drawingml/2006/main">
              <a:ext uri="{FF2B5EF4-FFF2-40B4-BE49-F238E27FC236}">
                <a16:creationId xmlns:a16="http://schemas.microsoft.com/office/drawing/2014/main" id="{67D2C061-4D46-4FD3-9806-C3411866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EABB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9EABB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94344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490F4C5-0438-4E8C-8B16-AA9E137E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50707A9B-A74D-41B5-9FDE-AA662503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63292240-2948-439E-A3E8-92809B1C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REPOSITORY STRUCTURE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85B19AB-5009-4765-9917-277084A9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The GitHub now contains two tutorial packages at different readiness levels.</a:t>
            </a:r>
          </a:p>
        </p:txBody>
      </p:sp>
      <p:sp>
        <p:nvSpPr>
          <p:cNvPr id="5" name="repo-tree">
            <a:extLst xmlns:a="http://schemas.openxmlformats.org/drawingml/2006/main">
              <a:ext uri="{FF2B5EF4-FFF2-40B4-BE49-F238E27FC236}">
                <a16:creationId xmlns:a16="http://schemas.microsoft.com/office/drawing/2014/main" id="{47F66F6E-6DA9-406A-958E-C193405F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70675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8627B-2D93-4734-ADCA-6F53C1BE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xi/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AC509-7C40-45DE-BD72-F38B02F6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90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po-p1">
            <a:extLst xmlns:a="http://schemas.openxmlformats.org/drawingml/2006/main">
              <a:ext uri="{FF2B5EF4-FFF2-40B4-BE49-F238E27FC236}">
                <a16:creationId xmlns:a16="http://schemas.microsoft.com/office/drawing/2014/main" id="{79E94EAE-8A97-42DA-BAC4-CF07A468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981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F95E7-2591-40C7-9530-B6ABB9BF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7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457A7"/>
                </a:solidFill>
                <a:latin typeface="Consolas"/>
                <a:ea typeface="Consolas"/>
                <a:cs typeface="Consolas"/>
              </a:rPr>
              <a:t>Tutorial_1_LV_Vol_Estimation/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FD6B1-A847-459C-B274-F653F904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05150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+-- Tutorial notebook.ipynb</a:t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+-- Exercise solutions.ipynb</a:t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`-- data / topology / search results</a:t>
            </a:r>
          </a:p>
        </p:txBody>
      </p:sp>
      <p:sp>
        <p:nvSpPr>
          <p:cNvPr id="11" name="repo-p2">
            <a:extLst xmlns:a="http://schemas.openxmlformats.org/drawingml/2006/main">
              <a:ext uri="{FF2B5EF4-FFF2-40B4-BE49-F238E27FC236}">
                <a16:creationId xmlns:a16="http://schemas.microsoft.com/office/drawing/2014/main" id="{412CCCDE-F1E3-4A3E-AA25-FAC71571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59817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1EC6B-BA8E-4940-A42E-CEF8D680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67200"/>
            <a:ext cx="542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413A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B9413A"/>
                </a:solidFill>
                <a:latin typeface="Consolas"/>
                <a:ea typeface="Consolas"/>
                <a:cs typeface="Consolas"/>
              </a:rPr>
              <a:t>Tutorial_2_MV_Effects_Reference_Voltage/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E2EE3-E055-4395-BC67-770CAF2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91050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+-- Tutorial notebook.ipynb</a:t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+-- Exercise solutions.ipynb</a:t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`-- fixed/MV data / network / saved results</a:t>
            </a:r>
          </a:p>
        </p:txBody>
      </p:sp>
      <p:sp>
        <p:nvSpPr>
          <p:cNvPr id="14" name="status-panel">
            <a:extLst xmlns:a="http://schemas.openxmlformats.org/drawingml/2006/main">
              <a:ext uri="{FF2B5EF4-FFF2-40B4-BE49-F238E27FC236}">
                <a16:creationId xmlns:a16="http://schemas.microsoft.com/office/drawing/2014/main" id="{FBFAB4FD-EC60-49F0-BCFD-0488363F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36385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9525">
            <a:solidFill>
              <a:srgbClr val="1520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72C4C-EA9E-4FAE-AD4F-5E64C6F7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861A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6861A"/>
                </a:solidFill>
                <a:latin typeface="Segoe UI"/>
                <a:ea typeface="Segoe UI"/>
                <a:cs typeface="Segoe UI"/>
              </a:rPr>
              <a:t>CURRENT STATE</a:t>
            </a:r>
          </a:p>
        </p:txBody>
      </p:sp>
      <p:sp>
        <p:nvSpPr>
          <p:cNvPr id="16" name="status-Part 1 tutorial">
            <a:extLst xmlns:a="http://schemas.openxmlformats.org/drawingml/2006/main">
              <a:ext uri="{FF2B5EF4-FFF2-40B4-BE49-F238E27FC236}">
                <a16:creationId xmlns:a16="http://schemas.microsoft.com/office/drawing/2014/main" id="{AF53C4F6-BA5E-4622-8455-87D84BDC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D7149E-0CDC-45A4-A2BC-FDA0F37E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Part 1 tutorial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C891B-1811-41CB-A102-60530F6B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9C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EB9C2"/>
                </a:solidFill>
                <a:latin typeface="Segoe UI"/>
                <a:ea typeface="Segoe UI"/>
                <a:cs typeface="Segoe UI"/>
              </a:rPr>
              <a:t>executed outputs</a:t>
            </a:r>
          </a:p>
        </p:txBody>
      </p:sp>
      <p:sp>
        <p:nvSpPr>
          <p:cNvPr id="19" name="status-Part 1 solutions">
            <a:extLst xmlns:a="http://schemas.openxmlformats.org/drawingml/2006/main">
              <a:ext uri="{FF2B5EF4-FFF2-40B4-BE49-F238E27FC236}">
                <a16:creationId xmlns:a16="http://schemas.microsoft.com/office/drawing/2014/main" id="{809A6C97-1201-4DEF-88A4-C356CF36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09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A92DD-C6B3-4388-8AC3-D180EF4D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71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Part 1 solutions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87770-0402-46DA-9C50-4B5A1935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576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9C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EB9C2"/>
                </a:solidFill>
                <a:latin typeface="Segoe UI"/>
                <a:ea typeface="Segoe UI"/>
                <a:cs typeface="Segoe UI"/>
              </a:rPr>
              <a:t>executed outputs</a:t>
            </a:r>
          </a:p>
        </p:txBody>
      </p:sp>
      <p:sp>
        <p:nvSpPr>
          <p:cNvPr id="22" name="status-Part 2 tutorial">
            <a:extLst xmlns:a="http://schemas.openxmlformats.org/drawingml/2006/main">
              <a:ext uri="{FF2B5EF4-FFF2-40B4-BE49-F238E27FC236}">
                <a16:creationId xmlns:a16="http://schemas.microsoft.com/office/drawing/2014/main" id="{38121169-159B-43DC-B851-46FD3A27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8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7283F0-5E99-45B7-B759-1CC7A28B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767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Part 2 tutorial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1DC7D-2C9D-432D-B441-E9272C93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62450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9C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EB9C2"/>
                </a:solidFill>
                <a:latin typeface="Segoe UI"/>
                <a:ea typeface="Segoe UI"/>
                <a:cs typeface="Segoe UI"/>
              </a:rPr>
              <a:t>executed; reads saved CSVs</a:t>
            </a:r>
          </a:p>
        </p:txBody>
      </p:sp>
      <p:sp>
        <p:nvSpPr>
          <p:cNvPr id="25" name="status-Part 2 solutions">
            <a:extLst xmlns:a="http://schemas.openxmlformats.org/drawingml/2006/main">
              <a:ext uri="{FF2B5EF4-FFF2-40B4-BE49-F238E27FC236}">
                <a16:creationId xmlns:a16="http://schemas.microsoft.com/office/drawing/2014/main" id="{1CB9975B-2F94-4C5B-AA15-FA67DA33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19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19050">
            <a:solidFill>
              <a:srgbClr val="B941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97F8E4-2EB7-4E3C-AC8B-3E17025B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81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Part 2 solutions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9D6774-6DBF-4839-86BF-AE48AC0E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67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9C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EB9C2"/>
                </a:solidFill>
                <a:latin typeface="Segoe UI"/>
                <a:ea typeface="Segoe UI"/>
                <a:cs typeface="Segoe UI"/>
              </a:rPr>
              <a:t>written; not yet executed</a:t>
            </a:r>
          </a:p>
        </p:txBody>
      </p:sp>
      <p:sp>
        <p:nvSpPr>
          <p:cNvPr id="28" name="footer-2-rule">
            <a:extLst xmlns:a="http://schemas.openxmlformats.org/drawingml/2006/main">
              <a:ext uri="{FF2B5EF4-FFF2-40B4-BE49-F238E27FC236}">
                <a16:creationId xmlns:a16="http://schemas.microsoft.com/office/drawing/2014/main" id="{899C0026-127C-4641-8B6D-43EBF3BA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ooter-2-source">
            <a:extLst xmlns:a="http://schemas.openxmlformats.org/drawingml/2006/main">
              <a:ext uri="{FF2B5EF4-FFF2-40B4-BE49-F238E27FC236}">
                <a16:creationId xmlns:a16="http://schemas.microsoft.com/office/drawing/2014/main" id="{345F1FA1-DAE9-458F-87A8-FE33F44D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Source: repository tree and README.md</a:t>
            </a:r>
          </a:p>
        </p:txBody>
      </p:sp>
      <p:sp>
        <p:nvSpPr>
          <p:cNvPr id="30" name="footer-2-number">
            <a:extLst xmlns:a="http://schemas.openxmlformats.org/drawingml/2006/main">
              <a:ext uri="{FF2B5EF4-FFF2-40B4-BE49-F238E27FC236}">
                <a16:creationId xmlns:a16="http://schemas.microsoft.com/office/drawing/2014/main" id="{96041FDE-3B3A-445E-861E-DBE252DC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7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5717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07861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BBC2F21-4F59-4CC3-B1CC-5D84764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AD55BCE7-12F6-43EC-ADB5-2479681E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83817C89-8DD0-498F-BFEC-C0F42A2F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4DCE3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D4DCE3"/>
                </a:solidFill>
                <a:latin typeface="Segoe UI"/>
                <a:ea typeface="Segoe UI"/>
                <a:cs typeface="Segoe UI"/>
              </a:rPr>
              <a:t>PART 1 / NOTEBOOK 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7820E-CCE9-4B47-9A93-F4A86518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2095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2457A7"/>
                </a:solidFill>
                <a:latin typeface="Georgia"/>
                <a:ea typeface="Georgia"/>
                <a:cs typeface="Georgia"/>
              </a:defRPr>
            </a:pPr>
            <a:r>
              <a:rPr sz="6900" b="1">
                <a:solidFill>
                  <a:srgbClr val="2457A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E6C84-E4C0-440F-9E38-BC6E41F7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9906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Build and evaluate the first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neural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E8CAE-BB14-4A2B-B295-C2719AF1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2885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C4CE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B8C4CE"/>
                </a:solidFill>
                <a:latin typeface="Segoe UI"/>
                <a:ea typeface="Segoe UI"/>
                <a:cs typeface="Segoe UI"/>
              </a:rPr>
              <a:t>Controlled upstream condition</a:t>
            </a:r>
          </a:p>
        </p:txBody>
      </p:sp>
      <p:sp>
        <p:nvSpPr>
          <p:cNvPr id="7" name="p1-structure-line">
            <a:extLst xmlns:a="http://schemas.openxmlformats.org/drawingml/2006/main">
              <a:ext uri="{FF2B5EF4-FFF2-40B4-BE49-F238E27FC236}">
                <a16:creationId xmlns:a16="http://schemas.microsoft.com/office/drawing/2014/main" id="{A105B63F-D7C0-4E73-9E73-35904921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p1-step-0">
            <a:extLst xmlns:a="http://schemas.openxmlformats.org/drawingml/2006/main">
              <a:ext uri="{FF2B5EF4-FFF2-40B4-BE49-F238E27FC236}">
                <a16:creationId xmlns:a16="http://schemas.microsoft.com/office/drawing/2014/main" id="{467AF318-286E-4C18-977F-98DDB788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5B267-2EA9-43EA-88EE-85E581A4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7A7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457A7"/>
                </a:solidFill>
                <a:latin typeface="Segoe UI"/>
                <a:ea typeface="Segoe UI"/>
                <a:cs typeface="Segoe UI"/>
              </a:rPr>
              <a:t>2.3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BD05D-B1F6-4C61-91A8-287394D9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147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Inspect the simulated dataset</a:t>
            </a:r>
          </a:p>
        </p:txBody>
      </p:sp>
      <p:sp>
        <p:nvSpPr>
          <p:cNvPr id="11" name="p1-step-1">
            <a:extLst xmlns:a="http://schemas.openxmlformats.org/drawingml/2006/main">
              <a:ext uri="{FF2B5EF4-FFF2-40B4-BE49-F238E27FC236}">
                <a16:creationId xmlns:a16="http://schemas.microsoft.com/office/drawing/2014/main" id="{56B4DB9B-1C96-4A1D-9158-59B8228B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14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E289F-31FC-4B26-A5B5-39870804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7A7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457A7"/>
                </a:solidFill>
                <a:latin typeface="Segoe UI"/>
                <a:ea typeface="Segoe UI"/>
                <a:cs typeface="Segoe UI"/>
              </a:rPr>
              <a:t>2.3.5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66462-B149-4187-AB9D-563EE471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147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Split time blocks and scale</a:t>
            </a:r>
          </a:p>
        </p:txBody>
      </p:sp>
      <p:sp>
        <p:nvSpPr>
          <p:cNvPr id="14" name="p1-step-2">
            <a:extLst xmlns:a="http://schemas.openxmlformats.org/drawingml/2006/main">
              <a:ext uri="{FF2B5EF4-FFF2-40B4-BE49-F238E27FC236}">
                <a16:creationId xmlns:a16="http://schemas.microsoft.com/office/drawing/2014/main" id="{7C325288-45A8-4E68-A73B-A65A2B32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14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4CCE6-F82A-45CE-A77A-7269067F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7A7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457A7"/>
                </a:solidFill>
                <a:latin typeface="Segoe UI"/>
                <a:ea typeface="Segoe UI"/>
                <a:cs typeface="Segoe UI"/>
              </a:rPr>
              <a:t>2.4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4D1F4-7B9E-44DF-BA7A-8203455E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7147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Define model and training functions</a:t>
            </a:r>
          </a:p>
        </p:txBody>
      </p:sp>
      <p:sp>
        <p:nvSpPr>
          <p:cNvPr id="17" name="p1-step-3">
            <a:extLst xmlns:a="http://schemas.openxmlformats.org/drawingml/2006/main">
              <a:ext uri="{FF2B5EF4-FFF2-40B4-BE49-F238E27FC236}">
                <a16:creationId xmlns:a16="http://schemas.microsoft.com/office/drawing/2014/main" id="{6DE43DB7-4C8B-44D0-9ED9-E408BE49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34E81-5685-40F2-96EF-BB4F3238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7A7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457A7"/>
                </a:solidFill>
                <a:latin typeface="Segoe UI"/>
                <a:ea typeface="Segoe UI"/>
                <a:cs typeface="Segoe UI"/>
              </a:rPr>
              <a:t>2.5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71D78C-619D-4B9B-BD98-2984DB66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147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Train, validate and select</a:t>
            </a:r>
          </a:p>
        </p:txBody>
      </p:sp>
      <p:sp>
        <p:nvSpPr>
          <p:cNvPr id="20" name="p1-step-4">
            <a:extLst xmlns:a="http://schemas.openxmlformats.org/drawingml/2006/main">
              <a:ext uri="{FF2B5EF4-FFF2-40B4-BE49-F238E27FC236}">
                <a16:creationId xmlns:a16="http://schemas.microsoft.com/office/drawing/2014/main" id="{AE69A365-6379-40C4-B388-29DF5E60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14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2A5202-598E-429F-9F5C-27ADEFEE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7A7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457A7"/>
                </a:solidFill>
                <a:latin typeface="Segoe UI"/>
                <a:ea typeface="Segoe UI"/>
                <a:cs typeface="Segoe UI"/>
              </a:rPr>
              <a:t>2.6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E95D18-09C2-4223-9902-BD04848D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147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Evaluate final test outputs</a:t>
            </a:r>
          </a:p>
        </p:txBody>
      </p:sp>
      <p:sp>
        <p:nvSpPr>
          <p:cNvPr id="23" name="p1-step-5">
            <a:extLst xmlns:a="http://schemas.openxmlformats.org/drawingml/2006/main">
              <a:ext uri="{FF2B5EF4-FFF2-40B4-BE49-F238E27FC236}">
                <a16:creationId xmlns:a16="http://schemas.microsoft.com/office/drawing/2014/main" id="{D1F4EEF5-37AA-4B63-9B25-F99FA3FE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14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EFC780-7B6D-4FF5-A24E-005C57CF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528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3725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37256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676473-9639-487E-949F-914D1B40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147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Complete three exercises</a:t>
            </a:r>
          </a:p>
        </p:txBody>
      </p:sp>
      <p:sp>
        <p:nvSpPr>
          <p:cNvPr id="26" name="p1-divider-note">
            <a:extLst xmlns:a="http://schemas.openxmlformats.org/drawingml/2006/main">
              <a:ext uri="{FF2B5EF4-FFF2-40B4-BE49-F238E27FC236}">
                <a16:creationId xmlns:a16="http://schemas.microsoft.com/office/drawing/2014/main" id="{5BBDD1CE-D79B-4D32-A27E-BEBE7B90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1087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C36"/>
          </a:solidFill>
          <a:ln xmlns:a="http://schemas.openxmlformats.org/drawingml/2006/main" w="9525">
            <a:solidFill>
              <a:srgbClr val="4250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99B6B9-583B-47FA-A685-7D7205EE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1057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Notebook walkthrough: context -&gt; code -&gt; output -&gt; learner exercise</a:t>
            </a:r>
          </a:p>
        </p:txBody>
      </p:sp>
      <p:sp>
        <p:nvSpPr>
          <p:cNvPr id="28" name="footer-3-rule">
            <a:extLst xmlns:a="http://schemas.openxmlformats.org/drawingml/2006/main">
              <a:ext uri="{FF2B5EF4-FFF2-40B4-BE49-F238E27FC236}">
                <a16:creationId xmlns:a16="http://schemas.microsoft.com/office/drawing/2014/main" id="{161D7158-CAB7-4CDD-A318-02E82279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ooter-3-source">
            <a:extLst xmlns:a="http://schemas.openxmlformats.org/drawingml/2006/main">
              <a:ext uri="{FF2B5EF4-FFF2-40B4-BE49-F238E27FC236}">
                <a16:creationId xmlns:a16="http://schemas.microsoft.com/office/drawing/2014/main" id="{EEF0223E-5C19-4A75-A868-BAEB8746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EABB6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9EABB6"/>
                </a:solidFill>
                <a:latin typeface="Segoe UI"/>
                <a:ea typeface="Segoe UI"/>
                <a:cs typeface="Segoe UI"/>
              </a:rPr>
              <a:t>Source: Tutorial 1 section headings</a:t>
            </a:r>
          </a:p>
        </p:txBody>
      </p:sp>
      <p:sp>
        <p:nvSpPr>
          <p:cNvPr id="30" name="footer-3-number">
            <a:extLst xmlns:a="http://schemas.openxmlformats.org/drawingml/2006/main">
              <a:ext uri="{FF2B5EF4-FFF2-40B4-BE49-F238E27FC236}">
                <a16:creationId xmlns:a16="http://schemas.microsoft.com/office/drawing/2014/main" id="{79F81C67-8FD4-47DB-833F-749496AE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EABB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9EABB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624492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D56A63E-9F31-43CF-B18C-606E2089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7ADD9835-18BE-42DC-BE77-45E7743A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DC683F03-3058-47F3-979A-5C1A8038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PART 1 / 2.1 SIMULATED LV CIRCUIT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4F38671-D0C5-467A-A955-40867451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858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The first task is explicit: 62 P/Q inputs estimate 31 customer voltages.</a:t>
            </a:r>
          </a:p>
        </p:txBody>
      </p:sp>
      <p:sp>
        <p:nvSpPr>
          <p:cNvPr id="5" name="p1-topology-panel">
            <a:extLst xmlns:a="http://schemas.openxmlformats.org/drawingml/2006/main">
              <a:ext uri="{FF2B5EF4-FFF2-40B4-BE49-F238E27FC236}">
                <a16:creationId xmlns:a16="http://schemas.microsoft.com/office/drawing/2014/main" id="{09E63D37-2276-4D45-BE68-8B531EE6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10871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a4b1e461f4dca"/>
          <a:stretch xmlns:a="http://schemas.openxmlformats.org/drawingml/2006/main"/>
        </p:blipFill>
        <p:spPr>
          <a:xfrm xmlns:a="http://schemas.openxmlformats.org/drawingml/2006/main">
            <a:off x="685800" y="2235903"/>
            <a:ext cx="10820400" cy="1986143"/>
          </a:xfrm>
          <a:prstGeom xmlns:a="http://schemas.openxmlformats.org/drawingml/2006/main" prst="rect">
            <a:avLst/>
          </a:prstGeom>
        </p:spPr>
      </p:pic>
      <p:sp>
        <p:nvSpPr>
          <p:cNvPr id="7" name="mapping-0">
            <a:extLst xmlns:a="http://schemas.openxmlformats.org/drawingml/2006/main">
              <a:ext uri="{FF2B5EF4-FFF2-40B4-BE49-F238E27FC236}">
                <a16:creationId xmlns:a16="http://schemas.microsoft.com/office/drawing/2014/main" id="{E7B4D85B-FBA3-469A-A14D-BC2186B4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2400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D0DE6-8294-4711-B965-2F39C376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57A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457A7"/>
                </a:solidFill>
                <a:latin typeface="Georgia"/>
                <a:ea typeface="Georgia"/>
                <a:cs typeface="Georgia"/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C6290-DF9E-4F99-BA3C-591D2565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single-phase customers</a:t>
            </a:r>
          </a:p>
        </p:txBody>
      </p:sp>
      <p:sp>
        <p:nvSpPr>
          <p:cNvPr id="10" name="mapping-1">
            <a:extLst xmlns:a="http://schemas.openxmlformats.org/drawingml/2006/main">
              <a:ext uri="{FF2B5EF4-FFF2-40B4-BE49-F238E27FC236}">
                <a16:creationId xmlns:a16="http://schemas.microsoft.com/office/drawing/2014/main" id="{BC11B8FF-518D-4EC5-B3C9-1B75D8D2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9650"/>
            <a:ext cx="2400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950E2-C0D6-4404-A5E7-4C375ACB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5300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57A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457A7"/>
                </a:solidFill>
                <a:latin typeface="Georgia"/>
                <a:ea typeface="Georgia"/>
                <a:cs typeface="Georgia"/>
              </a:rPr>
              <a:t>62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CE98F-5C08-4BD9-8F0B-98E88D86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4292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P/Q input values</a:t>
            </a:r>
          </a:p>
        </p:txBody>
      </p:sp>
      <p:sp>
        <p:nvSpPr>
          <p:cNvPr id="13" name="mapping-2">
            <a:extLst xmlns:a="http://schemas.openxmlformats.org/drawingml/2006/main">
              <a:ext uri="{FF2B5EF4-FFF2-40B4-BE49-F238E27FC236}">
                <a16:creationId xmlns:a16="http://schemas.microsoft.com/office/drawing/2014/main" id="{9B2B716F-A591-48CD-8BB4-D70426AF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19650"/>
            <a:ext cx="2400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FAABA8-F519-46E8-A983-6FD2E54D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C6861A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C6861A"/>
                </a:solidFill>
                <a:latin typeface="Georgia"/>
                <a:ea typeface="Georgia"/>
                <a:cs typeface="Georgia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B7D09-E5EF-4E30-94E6-17B48F87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neural-network mapping</a:t>
            </a:r>
          </a:p>
        </p:txBody>
      </p:sp>
      <p:sp>
        <p:nvSpPr>
          <p:cNvPr id="16" name="mapping-3">
            <a:extLst xmlns:a="http://schemas.openxmlformats.org/drawingml/2006/main">
              <a:ext uri="{FF2B5EF4-FFF2-40B4-BE49-F238E27FC236}">
                <a16:creationId xmlns:a16="http://schemas.microsoft.com/office/drawing/2014/main" id="{C53F03E5-9F50-4015-BB54-EA1D6457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19650"/>
            <a:ext cx="2400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753A6-D8A1-48D5-BB65-95F53D96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5300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3725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37256"/>
                </a:solidFill>
                <a:latin typeface="Georgia"/>
                <a:ea typeface="Georgia"/>
                <a:cs typeface="Georgia"/>
              </a:rPr>
              <a:t>31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52A5F5-D1AB-404D-8179-8878A7E8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292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voltage targets</a:t>
            </a:r>
          </a:p>
        </p:txBody>
      </p:sp>
      <p:sp>
        <p:nvSpPr>
          <p:cNvPr id="19" name="footer-4-rule">
            <a:extLst xmlns:a="http://schemas.openxmlformats.org/drawingml/2006/main">
              <a:ext uri="{FF2B5EF4-FFF2-40B4-BE49-F238E27FC236}">
                <a16:creationId xmlns:a16="http://schemas.microsoft.com/office/drawing/2014/main" id="{8639AEEC-7760-4131-A319-B22D19D7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footer-4-source">
            <a:extLst xmlns:a="http://schemas.openxmlformats.org/drawingml/2006/main">
              <a:ext uri="{FF2B5EF4-FFF2-40B4-BE49-F238E27FC236}">
                <a16:creationId xmlns:a16="http://schemas.microsoft.com/office/drawing/2014/main" id="{031835C3-5959-4284-AA59-FA1D8FFE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Source: Tutorial 1, Section 2.1 and LVnetwork-topology.png</a:t>
            </a:r>
          </a:p>
        </p:txBody>
      </p:sp>
      <p:sp>
        <p:nvSpPr>
          <p:cNvPr id="21" name="footer-4-number">
            <a:extLst xmlns:a="http://schemas.openxmlformats.org/drawingml/2006/main">
              <a:ext uri="{FF2B5EF4-FFF2-40B4-BE49-F238E27FC236}">
                <a16:creationId xmlns:a16="http://schemas.microsoft.com/office/drawing/2014/main" id="{82C19EF0-F1D9-443A-92E3-E435C170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7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5717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66858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91B6A54-581A-471A-A062-AC8A4C0A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D81E63A0-89E3-4DC1-A9A0-D50D9109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C031CD02-5908-468A-B65B-CC67E00A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PART 1 / DATA CONTRACT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86002AD-402F-49BD-B1CA-20694486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Students verify every matrix before modelling.</a:t>
            </a:r>
          </a:p>
        </p:txBody>
      </p:sp>
      <p:sp>
        <p:nvSpPr>
          <p:cNvPr id="5" name="p1-data-loading-code-panel">
            <a:extLst xmlns:a="http://schemas.openxmlformats.org/drawingml/2006/main">
              <a:ext uri="{FF2B5EF4-FFF2-40B4-BE49-F238E27FC236}">
                <a16:creationId xmlns:a16="http://schemas.microsoft.com/office/drawing/2014/main" id="{BCDCBAF7-7035-4613-B0C7-7B8EAE1A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5905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e4f10327c41f6"/>
          <a:stretch xmlns:a="http://schemas.openxmlformats.org/drawingml/2006/main"/>
        </p:blipFill>
        <p:spPr>
          <a:xfrm xmlns:a="http://schemas.openxmlformats.org/drawingml/2006/main">
            <a:off x="609600" y="1993726"/>
            <a:ext cx="5753100" cy="322297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7DD0B-8C1C-4C5D-AE03-8F344297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REAL NOTEBOOK CODE / CELL 14</a:t>
            </a:r>
          </a:p>
        </p:txBody>
      </p:sp>
      <p:sp>
        <p:nvSpPr>
          <p:cNvPr id="8" name="matrix-check-panel">
            <a:extLst xmlns:a="http://schemas.openxmlformats.org/drawingml/2006/main">
              <a:ext uri="{FF2B5EF4-FFF2-40B4-BE49-F238E27FC236}">
                <a16:creationId xmlns:a16="http://schemas.microsoft.com/office/drawing/2014/main" id="{0893FF9E-919E-495F-B3A1-1CE15890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66900"/>
            <a:ext cx="49339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0FCC5-DD58-41E5-B8FF-F7FEF599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95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Observed shapes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F5512-F534-4A0E-A928-862CD0FB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717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CBEB7-5CD8-4A95-B4FD-EE81BFD7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813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7A7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457A7"/>
                </a:solidFill>
                <a:latin typeface="Segoe UI"/>
                <a:ea typeface="Segoe UI"/>
                <a:cs typeface="Segoe UI"/>
              </a:rPr>
              <a:t>TRAINING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C1153-D69C-44D3-BFB9-0771AAF9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48000"/>
            <a:ext cx="1952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6,048 x 62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6AF7C-2130-463D-97C1-970329D4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4805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P/Q inputs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5F506-B617-4DCD-8D81-CCE9C87C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2047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6,048 x 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356E3-2D4D-4B6D-A9DE-9A5A3376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48050"/>
            <a:ext cx="2047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voltage targets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B0B15-19C5-4666-9DFD-AF431B6A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433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7256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37256"/>
                </a:solidFill>
                <a:latin typeface="Segoe UI"/>
                <a:ea typeface="Segoe UI"/>
                <a:cs typeface="Segoe UI"/>
              </a:rPr>
              <a:t>FINAL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EE7C0-F41D-45AF-910A-2861E9FF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10050"/>
            <a:ext cx="1952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2,016 x 62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F5A04-710A-4929-9231-1ADF5BC0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1010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P/Q inputs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A3E065-1FA3-48C6-B8FF-0746461E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10050"/>
            <a:ext cx="2047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2,016 x 31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A40D2-8F36-425C-8FDC-573F1F71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10100"/>
            <a:ext cx="2047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voltage targets</a:t>
            </a:r>
          </a:p>
        </p:txBody>
      </p:sp>
      <p:sp>
        <p:nvSpPr>
          <p:cNvPr id="21" name="validity-strip">
            <a:extLst xmlns:a="http://schemas.openxmlformats.org/drawingml/2006/main">
              <a:ext uri="{FF2B5EF4-FFF2-40B4-BE49-F238E27FC236}">
                <a16:creationId xmlns:a16="http://schemas.microsoft.com/office/drawing/2014/main" id="{25E63A2F-0B09-4026-A85B-CCA64017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48250"/>
            <a:ext cx="428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EE9"/>
          </a:solidFill>
          <a:ln xmlns:a="http://schemas.openxmlformats.org/drawingml/2006/main" w="9525">
            <a:solidFill>
              <a:srgbClr val="2372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F325F2-A3C1-48B7-87C7-CF975CDF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05400"/>
            <a:ext cx="3943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37256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37256"/>
                </a:solidFill>
                <a:latin typeface="Segoe UI"/>
                <a:ea typeface="Segoe UI"/>
                <a:cs typeface="Segoe UI"/>
              </a:rPr>
              <a:t>0 invalid values found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6EC87D-A943-4028-98B5-BEFB8C44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Teaching move: make dimensions and data quality visible before any neural-network abstraction.</a:t>
            </a:r>
          </a:p>
        </p:txBody>
      </p:sp>
      <p:sp>
        <p:nvSpPr>
          <p:cNvPr id="24" name="footer-5-rule">
            <a:extLst xmlns:a="http://schemas.openxmlformats.org/drawingml/2006/main">
              <a:ext uri="{FF2B5EF4-FFF2-40B4-BE49-F238E27FC236}">
                <a16:creationId xmlns:a16="http://schemas.microsoft.com/office/drawing/2014/main" id="{2AE20C8D-47BF-4C5C-AAED-D33CFE1F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footer-5-source">
            <a:extLst xmlns:a="http://schemas.openxmlformats.org/drawingml/2006/main">
              <a:ext uri="{FF2B5EF4-FFF2-40B4-BE49-F238E27FC236}">
                <a16:creationId xmlns:a16="http://schemas.microsoft.com/office/drawing/2014/main" id="{3045A9D8-BA16-49C7-8AC3-D3F3568E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Source: Tutorial 1, Section 2.3, cell 14 output</a:t>
            </a:r>
          </a:p>
        </p:txBody>
      </p:sp>
      <p:sp>
        <p:nvSpPr>
          <p:cNvPr id="26" name="footer-5-number">
            <a:extLst xmlns:a="http://schemas.openxmlformats.org/drawingml/2006/main">
              <a:ext uri="{FF2B5EF4-FFF2-40B4-BE49-F238E27FC236}">
                <a16:creationId xmlns:a16="http://schemas.microsoft.com/office/drawing/2014/main" id="{9228F3B2-DB0C-4C34-AFE9-F852065C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7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5717B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483801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FC9D765-E914-4A54-87E3-5567097B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321AD062-27C3-4B10-A49B-6B6C00B4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BFFAD1AA-5645-4CE9-96E8-0C425383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PART 1 / EXPLORE BEFORE TRAINING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89498DC-C4D2-4AFC-AA77-B8E2684E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Students inspect P, Q and V before training.</a:t>
            </a:r>
          </a:p>
        </p:txBody>
      </p:sp>
      <p:sp>
        <p:nvSpPr>
          <p:cNvPr id="5" name="inspection-prompt-panel">
            <a:extLst xmlns:a="http://schemas.openxmlformats.org/drawingml/2006/main">
              <a:ext uri="{FF2B5EF4-FFF2-40B4-BE49-F238E27FC236}">
                <a16:creationId xmlns:a16="http://schemas.microsoft.com/office/drawing/2014/main" id="{2C3DB736-88EA-454E-9518-F9030FE4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2362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22AB3-9946-4CD0-8DEA-E550036F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5C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A9B5C0"/>
                </a:solidFill>
                <a:latin typeface="Segoe UI"/>
                <a:ea typeface="Segoe UI"/>
                <a:cs typeface="Segoe UI"/>
              </a:rPr>
              <a:t>ONE 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F90F5-F22B-4C3C-9A39-6046FF9E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88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Day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711DA-0D53-4FE9-B7F2-5B7582B6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8EFB3-BDD3-44CB-B54C-5B19CA04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5C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A9B5C0"/>
                </a:solidFill>
                <a:latin typeface="Segoe UI"/>
                <a:ea typeface="Segoe UI"/>
                <a:cs typeface="Segoe UI"/>
              </a:rPr>
              <a:t>THREE CUSTOMERS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A989B-1DFB-408B-A0D9-773E6CF6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885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C1  /  C16  /  C31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18602-0DB0-42A4-A8C3-AF0B5C87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6C462-73A6-4074-BA43-F7E58011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861A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6861A"/>
                </a:solidFill>
                <a:latin typeface="Segoe UI"/>
                <a:ea typeface="Segoe UI"/>
                <a:cs typeface="Segoe UI"/>
              </a:rPr>
              <a:t>LOOK FOR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DDCAA-38DB-465F-9F6D-FB42C327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885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When do load and voltage move together?</a:t>
            </a:r>
          </a:p>
        </p:txBody>
      </p:sp>
      <p:sp>
        <p:nvSpPr>
          <p:cNvPr id="14" name="p1-pqv-plot-panel">
            <a:extLst xmlns:a="http://schemas.openxmlformats.org/drawingml/2006/main">
              <a:ext uri="{FF2B5EF4-FFF2-40B4-BE49-F238E27FC236}">
                <a16:creationId xmlns:a16="http://schemas.microsoft.com/office/drawing/2014/main" id="{CB2E5A8B-35C9-4737-BF63-2C518358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47850"/>
            <a:ext cx="85534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b41c304f54ff4"/>
          <a:stretch xmlns:a="http://schemas.openxmlformats.org/drawingml/2006/main"/>
        </p:blipFill>
        <p:spPr>
          <a:xfrm xmlns:a="http://schemas.openxmlformats.org/drawingml/2006/main">
            <a:off x="4663958" y="1924050"/>
            <a:ext cx="5435833" cy="39433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293FC-A579-44FA-B6E3-0764F154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000750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REAL NOTEBOOK OUTPUT / CELL 20</a:t>
            </a:r>
          </a:p>
        </p:txBody>
      </p:sp>
      <p:sp>
        <p:nvSpPr>
          <p:cNvPr id="17" name="footer-6-rule">
            <a:extLst xmlns:a="http://schemas.openxmlformats.org/drawingml/2006/main">
              <a:ext uri="{FF2B5EF4-FFF2-40B4-BE49-F238E27FC236}">
                <a16:creationId xmlns:a16="http://schemas.microsoft.com/office/drawing/2014/main" id="{932AB7D3-668D-40BA-90B6-84AB3860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footer-6-source">
            <a:extLst xmlns:a="http://schemas.openxmlformats.org/drawingml/2006/main">
              <a:ext uri="{FF2B5EF4-FFF2-40B4-BE49-F238E27FC236}">
                <a16:creationId xmlns:a16="http://schemas.microsoft.com/office/drawing/2014/main" id="{14365382-C675-49EF-9726-3CA0FAF7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Source: Tutorial 1, Section 2.3.4, cell 20 output</a:t>
            </a:r>
          </a:p>
        </p:txBody>
      </p:sp>
      <p:sp>
        <p:nvSpPr>
          <p:cNvPr id="19" name="footer-6-number">
            <a:extLst xmlns:a="http://schemas.openxmlformats.org/drawingml/2006/main">
              <a:ext uri="{FF2B5EF4-FFF2-40B4-BE49-F238E27FC236}">
                <a16:creationId xmlns:a16="http://schemas.microsoft.com/office/drawing/2014/main" id="{E8214047-AE83-4A26-B1EB-5E952728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7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5717B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10084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D34E21B-86B4-46EB-A928-8382AADD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79A3046C-AF96-446A-B77F-CF4C3187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CA900956-71EB-44E5-83FD-E2F367A9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PART 1 / TIME-AWARE EVALUATION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001D645-2164-4DEA-A5B4-C01E940C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Blocked time folds keep future samples out of training.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42D1E-6004-40CA-842D-578B62CC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735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7A7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457A7"/>
                </a:solidFill>
                <a:latin typeface="Segoe UI"/>
                <a:ea typeface="Segoe UI"/>
                <a:cs typeface="Segoe UI"/>
              </a:rPr>
              <a:t>21-DAY TRAINING WINDOW</a:t>
            </a:r>
          </a:p>
        </p:txBody>
      </p:sp>
      <p:sp>
        <p:nvSpPr>
          <p:cNvPr id="6" name="fold-0">
            <a:extLst xmlns:a="http://schemas.openxmlformats.org/drawingml/2006/main">
              <a:ext uri="{FF2B5EF4-FFF2-40B4-BE49-F238E27FC236}">
                <a16:creationId xmlns:a16="http://schemas.microsoft.com/office/drawing/2014/main" id="{BFBCB6F5-E8D9-499F-846B-C7B3BE3B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8"/>
          </a:solidFill>
          <a:ln xmlns:a="http://schemas.openxmlformats.org/drawingml/2006/main" w="9525">
            <a:solidFill>
              <a:srgbClr val="2457A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5FB89-441B-40A8-8DB8-E1C3564B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57A7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457A7"/>
                </a:solidFill>
                <a:latin typeface="Segoe UI"/>
                <a:ea typeface="Segoe UI"/>
                <a:cs typeface="Segoe UI"/>
              </a:rPr>
              <a:t>Fold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5A6E5-8B54-42F6-867A-90940FD5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7 days</a:t>
            </a:r>
          </a:p>
        </p:txBody>
      </p:sp>
      <p:sp>
        <p:nvSpPr>
          <p:cNvPr id="9" name="fold-1">
            <a:extLst xmlns:a="http://schemas.openxmlformats.org/drawingml/2006/main">
              <a:ext uri="{FF2B5EF4-FFF2-40B4-BE49-F238E27FC236}">
                <a16:creationId xmlns:a16="http://schemas.microsoft.com/office/drawing/2014/main" id="{ECD4EF07-B14F-4191-A708-C265DAF4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3835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8"/>
          </a:solidFill>
          <a:ln xmlns:a="http://schemas.openxmlformats.org/drawingml/2006/main" w="9525">
            <a:solidFill>
              <a:srgbClr val="2457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12CC8-F5C5-400E-90A0-03AC089E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526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57A7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457A7"/>
                </a:solidFill>
                <a:latin typeface="Segoe UI"/>
                <a:ea typeface="Segoe UI"/>
                <a:cs typeface="Segoe UI"/>
              </a:rPr>
              <a:t>Fold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BA7C3-B3A0-45F3-97AB-A7FC01D7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384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7 days</a:t>
            </a:r>
          </a:p>
        </p:txBody>
      </p:sp>
      <p:sp>
        <p:nvSpPr>
          <p:cNvPr id="12" name="fold-2">
            <a:extLst xmlns:a="http://schemas.openxmlformats.org/drawingml/2006/main">
              <a:ext uri="{FF2B5EF4-FFF2-40B4-BE49-F238E27FC236}">
                <a16:creationId xmlns:a16="http://schemas.microsoft.com/office/drawing/2014/main" id="{56B95854-7F2A-4FCA-B4C3-9448ACA0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3835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9525">
            <a:solidFill>
              <a:srgbClr val="2457A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07300-0E54-4B1B-8C1E-4F4D6874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526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57A7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457A7"/>
                </a:solidFill>
                <a:latin typeface="Segoe UI"/>
                <a:ea typeface="Segoe UI"/>
                <a:cs typeface="Segoe UI"/>
              </a:rPr>
              <a:t>Fold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446B7-EF5B-4257-9A3B-8241190B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384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7 days</a:t>
            </a:r>
          </a:p>
        </p:txBody>
      </p:sp>
      <p:sp>
        <p:nvSpPr>
          <p:cNvPr id="15" name="heldout-test">
            <a:extLst xmlns:a="http://schemas.openxmlformats.org/drawingml/2006/main">
              <a:ext uri="{FF2B5EF4-FFF2-40B4-BE49-F238E27FC236}">
                <a16:creationId xmlns:a16="http://schemas.microsoft.com/office/drawing/2014/main" id="{4D582F93-9F50-41BF-B601-20E01718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33550"/>
            <a:ext cx="3467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EE9"/>
          </a:solidFill>
          <a:ln xmlns:a="http://schemas.openxmlformats.org/drawingml/2006/main" w="19050">
            <a:solidFill>
              <a:srgbClr val="23725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0220C-5F65-4B7C-A892-C9FAF0C9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859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7256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37256"/>
                </a:solidFill>
                <a:latin typeface="Segoe UI"/>
                <a:ea typeface="Segoe UI"/>
                <a:cs typeface="Segoe UI"/>
              </a:rPr>
              <a:t>ISOLATED FINAL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50BE8-0DF0-4C4B-A2F3-C7E89D58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38375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7 days / 2,016 samples</a:t>
            </a:r>
          </a:p>
        </p:txBody>
      </p:sp>
      <p:sp>
        <p:nvSpPr>
          <p:cNvPr id="18" name="p1-blocked-split-code-panel">
            <a:extLst xmlns:a="http://schemas.openxmlformats.org/drawingml/2006/main">
              <a:ext uri="{FF2B5EF4-FFF2-40B4-BE49-F238E27FC236}">
                <a16:creationId xmlns:a16="http://schemas.microsoft.com/office/drawing/2014/main" id="{2EE71B1B-4CA7-4181-9359-4B1F7CB1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75438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e795141bc4946"/>
          <a:stretch xmlns:a="http://schemas.openxmlformats.org/drawingml/2006/main"/>
        </p:blipFill>
        <p:spPr>
          <a:xfrm xmlns:a="http://schemas.openxmlformats.org/drawingml/2006/main">
            <a:off x="1264613" y="3133725"/>
            <a:ext cx="6081374" cy="2667000"/>
          </a:xfrm>
          <a:prstGeom xmlns:a="http://schemas.openxmlformats.org/drawingml/2006/main" prst="rect">
            <a:avLst/>
          </a:prstGeom>
        </p:spPr>
      </p:pic>
      <p:sp>
        <p:nvSpPr>
          <p:cNvPr id="20" name="leakage-guard-panel">
            <a:extLst xmlns:a="http://schemas.openxmlformats.org/drawingml/2006/main">
              <a:ext uri="{FF2B5EF4-FFF2-40B4-BE49-F238E27FC236}">
                <a16:creationId xmlns:a16="http://schemas.microsoft.com/office/drawing/2014/main" id="{5FA72F14-A42B-4108-890F-50E81E57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67050"/>
            <a:ext cx="3314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67D13F-4D4A-4250-9DC5-4E62F401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956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861A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6861A"/>
                </a:solidFill>
                <a:latin typeface="Segoe UI"/>
                <a:ea typeface="Segoe UI"/>
                <a:cs typeface="Segoe UI"/>
              </a:rPr>
              <a:t>LEAKAGE GUARD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DA9A62-563F-4430-A21B-B2FB5897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9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4,032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D473A-8C00-4483-8BD4-9ECDCA31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3385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0D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C7D0D8"/>
                </a:solidFill>
                <a:latin typeface="Segoe UI"/>
                <a:ea typeface="Segoe UI"/>
                <a:cs typeface="Segoe UI"/>
              </a:rPr>
              <a:t>training samples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39637-BB21-4FCB-9C2A-5B89FE67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3390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9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2,016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126809-3959-4453-801C-4EAEB27F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292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0D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C7D0D8"/>
                </a:solidFill>
                <a:latin typeface="Segoe UI"/>
                <a:ea typeface="Segoe UI"/>
                <a:cs typeface="Segoe UI"/>
              </a:rPr>
              <a:t>validation samples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2784B1-9706-4426-8DDC-2ECEC253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410200"/>
            <a:ext cx="257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4BA375-6240-402F-BB17-11F0250A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24500"/>
            <a:ext cx="2819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7256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237256"/>
                </a:solidFill>
                <a:latin typeface="Segoe UI"/>
                <a:ea typeface="Segoe UI"/>
                <a:cs typeface="Segoe UI"/>
              </a:rPr>
              <a:t>Scalers fit on training only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AC8547-DEF9-45E7-B798-5E70F244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REAL NOTEBOOK CODE / CELL 22</a:t>
            </a:r>
          </a:p>
        </p:txBody>
      </p:sp>
      <p:sp>
        <p:nvSpPr>
          <p:cNvPr id="29" name="footer-7-rule">
            <a:extLst xmlns:a="http://schemas.openxmlformats.org/drawingml/2006/main">
              <a:ext uri="{FF2B5EF4-FFF2-40B4-BE49-F238E27FC236}">
                <a16:creationId xmlns:a16="http://schemas.microsoft.com/office/drawing/2014/main" id="{C6AA8A73-538F-4B8F-A742-B0B6BBB1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footer-7-source">
            <a:extLst xmlns:a="http://schemas.openxmlformats.org/drawingml/2006/main">
              <a:ext uri="{FF2B5EF4-FFF2-40B4-BE49-F238E27FC236}">
                <a16:creationId xmlns:a16="http://schemas.microsoft.com/office/drawing/2014/main" id="{18469B30-2391-40DC-865A-A118EE61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Source: Tutorial 1, Section 2.3.5, cell 22</a:t>
            </a:r>
          </a:p>
        </p:txBody>
      </p:sp>
      <p:sp>
        <p:nvSpPr>
          <p:cNvPr id="31" name="footer-7-number">
            <a:extLst xmlns:a="http://schemas.openxmlformats.org/drawingml/2006/main">
              <a:ext uri="{FF2B5EF4-FFF2-40B4-BE49-F238E27FC236}">
                <a16:creationId xmlns:a16="http://schemas.microsoft.com/office/drawing/2014/main" id="{ABC4E9D7-E14C-460C-A75D-A8919DDA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7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5717B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53186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AAFC3EB-7857-46D6-8AD5-9BD379F9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21382A67-7F9C-4B6F-BCFA-D3F27C30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0CBDF6AC-FCF5-4E84-8C21-3964CD29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PART 1 / MODEL DEFINITION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56B22FC-1023-472E-B6DA-7F034774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The baseline network is small enough to understand line by line.</a:t>
            </a:r>
          </a:p>
        </p:txBody>
      </p:sp>
      <p:sp>
        <p:nvSpPr>
          <p:cNvPr id="5" name="nn-node-0">
            <a:extLst xmlns:a="http://schemas.openxmlformats.org/drawingml/2006/main">
              <a:ext uri="{FF2B5EF4-FFF2-40B4-BE49-F238E27FC236}">
                <a16:creationId xmlns:a16="http://schemas.microsoft.com/office/drawing/2014/main" id="{E6221FB4-42EE-461D-8C75-FDECF3EA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8"/>
          </a:solidFill>
          <a:ln xmlns:a="http://schemas.openxmlformats.org/drawingml/2006/main" w="9525">
            <a:solidFill>
              <a:srgbClr val="2457A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5FF7D-A6B0-4354-A833-57C00159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457A7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2457A7"/>
                </a:solidFill>
                <a:latin typeface="Georgia"/>
                <a:ea typeface="Georgia"/>
                <a:cs typeface="Georgia"/>
              </a:rPr>
              <a:t>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CB4DF-E6DD-48E4-8EF5-CBB60DF9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P/Q inputs</a:t>
            </a:r>
          </a:p>
        </p:txBody>
      </p:sp>
      <p:sp>
        <p:nvSpPr>
          <p:cNvPr id="8" name="nn-node-1">
            <a:extLst xmlns:a="http://schemas.openxmlformats.org/drawingml/2006/main">
              <a:ext uri="{FF2B5EF4-FFF2-40B4-BE49-F238E27FC236}">
                <a16:creationId xmlns:a16="http://schemas.microsoft.com/office/drawing/2014/main" id="{D3CA58B0-E280-48C4-9BF9-EE6BCE06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95450"/>
            <a:ext cx="3333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AD7"/>
          </a:solidFill>
          <a:ln xmlns:a="http://schemas.openxmlformats.org/drawingml/2006/main" w="9525">
            <a:solidFill>
              <a:srgbClr val="C686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0347D-C70F-4C30-9961-D4D09138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09750"/>
            <a:ext cx="3028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6861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C6861A"/>
                </a:solidFill>
                <a:latin typeface="Georgia"/>
                <a:ea typeface="Georgia"/>
                <a:cs typeface="Georgia"/>
              </a:rPr>
              <a:t>93 tanh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76B17-7579-4558-B62B-C9D276D5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669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hidden units</a:t>
            </a:r>
          </a:p>
        </p:txBody>
      </p:sp>
      <p:sp>
        <p:nvSpPr>
          <p:cNvPr id="11" name="nn-node-2">
            <a:extLst xmlns:a="http://schemas.openxmlformats.org/drawingml/2006/main">
              <a:ext uri="{FF2B5EF4-FFF2-40B4-BE49-F238E27FC236}">
                <a16:creationId xmlns:a16="http://schemas.microsoft.com/office/drawing/2014/main" id="{E5A903BC-D447-44FC-8F27-106CE47E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954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EE9"/>
          </a:solidFill>
          <a:ln xmlns:a="http://schemas.openxmlformats.org/drawingml/2006/main" w="9525">
            <a:solidFill>
              <a:srgbClr val="2372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BA802-F4E1-49A7-AD4D-1230CCF9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097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37256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237256"/>
                </a:solidFill>
                <a:latin typeface="Georgia"/>
                <a:ea typeface="Georgia"/>
                <a:cs typeface="Georgia"/>
              </a:rPr>
              <a:t>31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B4F09-91FD-4536-AB86-92C8AC98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669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voltage outputs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A6FA2-9248-4434-A541-3ADF96CF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717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AD205-7250-4B28-8C2A-7EABCB30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arameter-count">
            <a:extLst xmlns:a="http://schemas.openxmlformats.org/drawingml/2006/main">
              <a:ext uri="{FF2B5EF4-FFF2-40B4-BE49-F238E27FC236}">
                <a16:creationId xmlns:a16="http://schemas.microsoft.com/office/drawing/2014/main" id="{A3DED8B1-A67C-4FFB-959D-7D8DA0DD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95450"/>
            <a:ext cx="1638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4FCFF-2C9F-41B7-9D86-EDC9B4B8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288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8,773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6381B-2B16-48C3-BD45-B5ED099F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860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D0D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7D0D8"/>
                </a:solidFill>
                <a:latin typeface="Segoe UI"/>
                <a:ea typeface="Segoe UI"/>
                <a:cs typeface="Segoe UI"/>
              </a:rPr>
              <a:t>parameters</a:t>
            </a:r>
          </a:p>
        </p:txBody>
      </p:sp>
      <p:sp>
        <p:nvSpPr>
          <p:cNvPr id="19" name="p1-model-code-panel">
            <a:extLst xmlns:a="http://schemas.openxmlformats.org/drawingml/2006/main">
              <a:ext uri="{FF2B5EF4-FFF2-40B4-BE49-F238E27FC236}">
                <a16:creationId xmlns:a16="http://schemas.microsoft.com/office/drawing/2014/main" id="{FA503995-2D50-482F-B70F-615CCFA0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11125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407b8a9fb4226"/>
          <a:stretch xmlns:a="http://schemas.openxmlformats.org/drawingml/2006/main"/>
        </p:blipFill>
        <p:spPr>
          <a:xfrm xmlns:a="http://schemas.openxmlformats.org/drawingml/2006/main">
            <a:off x="2912384" y="3038475"/>
            <a:ext cx="6367232" cy="28194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E6519-282E-41D6-B3B1-CE5BD03E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5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REAL NOTEBOOK CODE / CELL 24</a:t>
            </a:r>
          </a:p>
        </p:txBody>
      </p:sp>
      <p:sp>
        <p:nvSpPr>
          <p:cNvPr id="22" name="footer-8-rule">
            <a:extLst xmlns:a="http://schemas.openxmlformats.org/drawingml/2006/main">
              <a:ext uri="{FF2B5EF4-FFF2-40B4-BE49-F238E27FC236}">
                <a16:creationId xmlns:a16="http://schemas.microsoft.com/office/drawing/2014/main" id="{FAE7E26E-710B-4892-BBF2-17376072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footer-8-source">
            <a:extLst xmlns:a="http://schemas.openxmlformats.org/drawingml/2006/main">
              <a:ext uri="{FF2B5EF4-FFF2-40B4-BE49-F238E27FC236}">
                <a16:creationId xmlns:a16="http://schemas.microsoft.com/office/drawing/2014/main" id="{B18724DC-DD32-4E86-A589-68779591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Source: Tutorial 1, Section 2.4, cell 24</a:t>
            </a:r>
          </a:p>
        </p:txBody>
      </p:sp>
      <p:sp>
        <p:nvSpPr>
          <p:cNvPr id="24" name="footer-8-number">
            <a:extLst xmlns:a="http://schemas.openxmlformats.org/drawingml/2006/main">
              <a:ext uri="{FF2B5EF4-FFF2-40B4-BE49-F238E27FC236}">
                <a16:creationId xmlns:a16="http://schemas.microsoft.com/office/drawing/2014/main" id="{55228A4B-A305-4D15-B9A0-4B49EB12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7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5717B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718753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4E9695A-649F-41F6-8671-83EDF854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F780D730-2FFC-4C7A-8E52-926C7DB5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452FDBF1-AAB3-46DE-AA2D-88649DC7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PART 1 / TRAIN AND SELECT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CDAF3F8-1D35-43F7-90E5-C2EC5245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Validation curves support an explicit model-selection decision.</a:t>
            </a:r>
          </a:p>
        </p:txBody>
      </p:sp>
      <p:sp>
        <p:nvSpPr>
          <p:cNvPr id="5" name="p1-training-history-panel">
            <a:extLst xmlns:a="http://schemas.openxmlformats.org/drawingml/2006/main">
              <a:ext uri="{FF2B5EF4-FFF2-40B4-BE49-F238E27FC236}">
                <a16:creationId xmlns:a16="http://schemas.microsoft.com/office/drawing/2014/main" id="{66C020F5-D412-4872-A714-DF1408F2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3533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b945b2e63455b"/>
          <a:stretch xmlns:a="http://schemas.openxmlformats.org/drawingml/2006/main"/>
        </p:blipFill>
        <p:spPr>
          <a:xfrm xmlns:a="http://schemas.openxmlformats.org/drawingml/2006/main">
            <a:off x="609600" y="2013513"/>
            <a:ext cx="7200900" cy="3554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4176D-E5A2-49F9-A961-E4F1E663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REAL NOTEBOOK OUTPUT / CELL 34</a:t>
            </a:r>
          </a:p>
        </p:txBody>
      </p:sp>
      <p:sp>
        <p:nvSpPr>
          <p:cNvPr id="8" name="selected-model-panel">
            <a:extLst xmlns:a="http://schemas.openxmlformats.org/drawingml/2006/main">
              <a:ext uri="{FF2B5EF4-FFF2-40B4-BE49-F238E27FC236}">
                <a16:creationId xmlns:a16="http://schemas.microsoft.com/office/drawing/2014/main" id="{555C16D0-CA33-4D0D-8989-34EA244F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34861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2EAD3-2251-4A5C-B7F9-0D184AF9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383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861A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6861A"/>
                </a:solidFill>
                <a:latin typeface="Segoe UI"/>
                <a:ea typeface="Segoe UI"/>
                <a:cs typeface="Segoe UI"/>
              </a:rPr>
              <a:t>SELECTED CONFIGURATION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18390-8F5F-4E09-97DA-E53664E3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155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74CBF-76CD-42C4-B746-43F89222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860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0D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C7D0D8"/>
                </a:solidFill>
                <a:latin typeface="Segoe UI"/>
                <a:ea typeface="Segoe UI"/>
                <a:cs typeface="Segoe UI"/>
              </a:rPr>
              <a:t>hidden units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C7959-646F-49F9-A114-BAF297B4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766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AE025-BDDC-4F3E-ADDC-DBD530AA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8615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tanh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67344-87D4-44B3-BC37-51DA2234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290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D0D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7D0D8"/>
                </a:solidFill>
                <a:latin typeface="Segoe UI"/>
                <a:ea typeface="Segoe UI"/>
                <a:cs typeface="Segoe UI"/>
              </a:rPr>
              <a:t>activation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21A92-323C-4D1C-9FB7-009F0F4C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8615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1e-4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EDDAD-62E8-4E4C-8DAE-2241695E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290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D0D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7D0D8"/>
                </a:solidFill>
                <a:latin typeface="Segoe UI"/>
                <a:ea typeface="Segoe UI"/>
                <a:cs typeface="Segoe UI"/>
              </a:rPr>
              <a:t>learning 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028C8-9903-45CD-A450-228A98E6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672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B5372-C192-4DF4-ABCC-72B9EC7A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767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2,000 epochs</a:t>
            </a:r>
          </a:p>
        </p:txBody>
      </p:sp>
      <p:sp>
        <p:nvSpPr>
          <p:cNvPr id="19" name="cv-rmse-box">
            <a:extLst xmlns:a="http://schemas.openxmlformats.org/drawingml/2006/main">
              <a:ext uri="{FF2B5EF4-FFF2-40B4-BE49-F238E27FC236}">
                <a16:creationId xmlns:a16="http://schemas.microsoft.com/office/drawing/2014/main" id="{CFAA332F-3B8B-46D6-B155-584F1786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101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3BD674-6779-4898-983C-D2489CEF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14925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CV RMSE  0.010986 V</a:t>
            </a:r>
          </a:p>
        </p:txBody>
      </p:sp>
      <p:sp>
        <p:nvSpPr>
          <p:cNvPr id="21" name="footer-9-rule">
            <a:extLst xmlns:a="http://schemas.openxmlformats.org/drawingml/2006/main">
              <a:ext uri="{FF2B5EF4-FFF2-40B4-BE49-F238E27FC236}">
                <a16:creationId xmlns:a16="http://schemas.microsoft.com/office/drawing/2014/main" id="{F3FDCA8B-5FF5-48D9-B1E9-B778E76A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footer-9-source">
            <a:extLst xmlns:a="http://schemas.openxmlformats.org/drawingml/2006/main">
              <a:ext uri="{FF2B5EF4-FFF2-40B4-BE49-F238E27FC236}">
                <a16:creationId xmlns:a16="http://schemas.microsoft.com/office/drawing/2014/main" id="{1E403DE4-0A35-4851-9BFF-BBDE0701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Source: Tutorial 1, Section 2.5, cells 32-34</a:t>
            </a:r>
          </a:p>
        </p:txBody>
      </p:sp>
      <p:sp>
        <p:nvSpPr>
          <p:cNvPr id="23" name="footer-9-number">
            <a:extLst xmlns:a="http://schemas.openxmlformats.org/drawingml/2006/main">
              <a:ext uri="{FF2B5EF4-FFF2-40B4-BE49-F238E27FC236}">
                <a16:creationId xmlns:a16="http://schemas.microsoft.com/office/drawing/2014/main" id="{4BFFD351-1813-4B19-889C-C96A45A2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7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5717B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20975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0407274-DB1F-4EFB-B03D-F6CFABBD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7D4BB2E0-A480-4738-84CD-086B56CC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165568FA-6898-4206-B123-50EF0DB6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PART 1 / FINAL TEST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0C8EABA-2B59-4231-BDBE-CCAEC35F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The final test is reported as error, parity and customer-level risk.</a:t>
            </a:r>
          </a:p>
        </p:txBody>
      </p:sp>
      <p:sp>
        <p:nvSpPr>
          <p:cNvPr id="5" name="p1-test-metrics">
            <a:extLst xmlns:a="http://schemas.openxmlformats.org/drawingml/2006/main">
              <a:ext uri="{FF2B5EF4-FFF2-40B4-BE49-F238E27FC236}">
                <a16:creationId xmlns:a16="http://schemas.microsoft.com/office/drawing/2014/main" id="{AA30A113-4D3C-4BD8-87C1-9B83C2EA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4686300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FD55F-B5C8-4D9A-AAFF-C794D3C4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Held-out 7-day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CBBC4-B398-49E6-9A2A-E2E49854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8BC45-6575-4E39-B188-88361F11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0.01235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DB1D3-EA7A-429F-B189-E9D0CF99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RMSE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1FD96-63F8-4FD5-8227-35A5315F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717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DF797-D06F-45CA-9FC1-C1D424B2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336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0.00747 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652A5-A737-449B-B04B-56410104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289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MAE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AEA94-D67A-4010-8BFE-419138C9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A7249-5FDB-4EE5-812E-079428D7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3810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0.01646 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FFECC-AAD0-460A-AB85-E9DE63A0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381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90th-percentile absolute 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2C79D-6B7D-40F3-A660-AC751F50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384D9-35AB-4FEF-A6F4-1BA53803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Worst customer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C4A27C-F921-4255-9DB0-D8E2138A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006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B9413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B9413A"/>
                </a:solidFill>
                <a:latin typeface="Georgia"/>
                <a:ea typeface="Georgia"/>
                <a:cs typeface="Georgia"/>
              </a:rPr>
              <a:t>C24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82E0E9-2703-4DBC-A5F1-70C9A906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398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customer RMSE  0.02553 V</a:t>
            </a:r>
          </a:p>
        </p:txBody>
      </p:sp>
      <p:sp>
        <p:nvSpPr>
          <p:cNvPr id="20" name="p1-parity-panel">
            <a:extLst xmlns:a="http://schemas.openxmlformats.org/drawingml/2006/main">
              <a:ext uri="{FF2B5EF4-FFF2-40B4-BE49-F238E27FC236}">
                <a16:creationId xmlns:a16="http://schemas.microsoft.com/office/drawing/2014/main" id="{F91247EF-8B86-4B43-8FFB-36E38639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790700"/>
            <a:ext cx="6191250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cce24bb1d4eb6"/>
          <a:stretch xmlns:a="http://schemas.openxmlformats.org/drawingml/2006/main"/>
        </p:blipFill>
        <p:spPr>
          <a:xfrm xmlns:a="http://schemas.openxmlformats.org/drawingml/2006/main">
            <a:off x="6562725" y="1866900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B3248-FEAD-44F0-B439-BD869CB3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000750"/>
            <a:ext cx="588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REAL NOTEBOOK OUTPUT / CELL 44</a:t>
            </a:r>
          </a:p>
        </p:txBody>
      </p:sp>
      <p:sp>
        <p:nvSpPr>
          <p:cNvPr id="23" name="footer-10-rule">
            <a:extLst xmlns:a="http://schemas.openxmlformats.org/drawingml/2006/main">
              <a:ext uri="{FF2B5EF4-FFF2-40B4-BE49-F238E27FC236}">
                <a16:creationId xmlns:a16="http://schemas.microsoft.com/office/drawing/2014/main" id="{5AD2B7ED-95DD-419D-A5B5-8E047778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footer-10-source">
            <a:extLst xmlns:a="http://schemas.openxmlformats.org/drawingml/2006/main">
              <a:ext uri="{FF2B5EF4-FFF2-40B4-BE49-F238E27FC236}">
                <a16:creationId xmlns:a16="http://schemas.microsoft.com/office/drawing/2014/main" id="{21D52E29-40B4-471E-ADAA-E86893C4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Source: Tutorial 1, Section 2.6, cells 44-48</a:t>
            </a:r>
          </a:p>
        </p:txBody>
      </p:sp>
      <p:sp>
        <p:nvSpPr>
          <p:cNvPr id="25" name="footer-10-number">
            <a:extLst xmlns:a="http://schemas.openxmlformats.org/drawingml/2006/main">
              <a:ext uri="{FF2B5EF4-FFF2-40B4-BE49-F238E27FC236}">
                <a16:creationId xmlns:a16="http://schemas.microsoft.com/office/drawing/2014/main" id="{4437A03D-4E29-40D3-9837-75C50DC8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7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5717B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692615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054AB51-BEAC-45F9-8405-79255656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DCE81705-AB8F-47F7-AE7C-F5D661FA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D1772717-84DC-4EC0-9125-444EF0AB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PART 1 / PRACTICE AND SOLUTIONS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BAE4F71-3819-4C4A-B5AA-6C974977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Exercises move from interpretation to model comparison and robustness.</a:t>
            </a:r>
          </a:p>
        </p:txBody>
      </p:sp>
      <p:sp>
        <p:nvSpPr>
          <p:cNvPr id="5" name="exercise-card-0">
            <a:extLst xmlns:a="http://schemas.openxmlformats.org/drawingml/2006/main">
              <a:ext uri="{FF2B5EF4-FFF2-40B4-BE49-F238E27FC236}">
                <a16:creationId xmlns:a16="http://schemas.microsoft.com/office/drawing/2014/main" id="{BF24986E-24D2-4159-89E5-AD90C3A1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352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sp>
        <p:nvSpPr>
          <p:cNvPr id="6" name="exercise-tag-0">
            <a:extLst xmlns:a="http://schemas.openxmlformats.org/drawingml/2006/main">
              <a:ext uri="{FF2B5EF4-FFF2-40B4-BE49-F238E27FC236}">
                <a16:creationId xmlns:a16="http://schemas.microsoft.com/office/drawing/2014/main" id="{0DE78F82-84FD-486A-B836-9EF1EBB2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685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EEB17-3C41-4823-BD2A-3068C8E5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33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D3022-F249-44B8-9565-8E476333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4785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7A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457A7"/>
                </a:solidFill>
                <a:latin typeface="Georgia"/>
                <a:ea typeface="Georgia"/>
                <a:cs typeface="Georgia"/>
              </a:rPr>
              <a:t>Interpret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77860-C466-48DE-BCF4-12382E6D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2209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Read profiles and explain where errors appear.</a:t>
            </a:r>
          </a:p>
        </p:txBody>
      </p:sp>
      <p:sp>
        <p:nvSpPr>
          <p:cNvPr id="10" name="exercise-card-1">
            <a:extLst xmlns:a="http://schemas.openxmlformats.org/drawingml/2006/main">
              <a:ext uri="{FF2B5EF4-FFF2-40B4-BE49-F238E27FC236}">
                <a16:creationId xmlns:a16="http://schemas.microsoft.com/office/drawing/2014/main" id="{D250EA9D-9C39-4EC1-9145-98A84B8B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3352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sp>
        <p:nvSpPr>
          <p:cNvPr id="11" name="exercise-tag-1">
            <a:extLst xmlns:a="http://schemas.openxmlformats.org/drawingml/2006/main">
              <a:ext uri="{FF2B5EF4-FFF2-40B4-BE49-F238E27FC236}">
                <a16:creationId xmlns:a16="http://schemas.microsoft.com/office/drawing/2014/main" id="{04294CB1-EF8C-4396-A397-39F96FEA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685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2F097-41A7-4308-BCEF-D66BD26B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533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973BB-D8A9-4E68-B5EF-3D1A8F52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4785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6861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C6861A"/>
                </a:solidFill>
                <a:latin typeface="Georgia"/>
                <a:ea typeface="Georgia"/>
                <a:cs typeface="Georgia"/>
              </a:rPr>
              <a:t>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9C41B-45BA-4AA0-BD44-D5B44CCC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66950"/>
            <a:ext cx="2209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Rank activation functions using validation RMSE.</a:t>
            </a:r>
          </a:p>
        </p:txBody>
      </p:sp>
      <p:sp>
        <p:nvSpPr>
          <p:cNvPr id="15" name="exercise-card-2">
            <a:extLst xmlns:a="http://schemas.openxmlformats.org/drawingml/2006/main">
              <a:ext uri="{FF2B5EF4-FFF2-40B4-BE49-F238E27FC236}">
                <a16:creationId xmlns:a16="http://schemas.microsoft.com/office/drawing/2014/main" id="{C5FAA1CF-40CE-4457-BF6A-708307BC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3352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sp>
        <p:nvSpPr>
          <p:cNvPr id="16" name="exercise-tag-2">
            <a:extLst xmlns:a="http://schemas.openxmlformats.org/drawingml/2006/main">
              <a:ext uri="{FF2B5EF4-FFF2-40B4-BE49-F238E27FC236}">
                <a16:creationId xmlns:a16="http://schemas.microsoft.com/office/drawing/2014/main" id="{33AFEC2A-6F97-470F-A468-3C25548C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685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E492D-6456-4095-89C6-1835D76D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33600"/>
            <a:ext cx="533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D0483-5448-4B46-97B9-95AA4653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4785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7256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37256"/>
                </a:solidFill>
                <a:latin typeface="Georgia"/>
                <a:ea typeface="Georgia"/>
                <a:cs typeface="Georgia"/>
              </a:rPr>
              <a:t>Stress-test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391E9-1D5B-4022-8823-0CD976BA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2209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Repeat training across seeds and inspect stability.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FE678-3220-49B1-8EB6-B18663E1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11125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7A7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457A7"/>
                </a:solidFill>
                <a:latin typeface="Segoe UI"/>
                <a:ea typeface="Segoe UI"/>
                <a:cs typeface="Segoe UI"/>
              </a:rPr>
              <a:t>SOLUTION NOTEBOOK OUTPUT / E2</a:t>
            </a:r>
          </a:p>
        </p:txBody>
      </p:sp>
      <p:sp>
        <p:nvSpPr>
          <p:cNvPr id="21" name="p1-exercise-output-panel">
            <a:extLst xmlns:a="http://schemas.openxmlformats.org/drawingml/2006/main">
              <a:ext uri="{FF2B5EF4-FFF2-40B4-BE49-F238E27FC236}">
                <a16:creationId xmlns:a16="http://schemas.microsoft.com/office/drawing/2014/main" id="{55515D14-520D-43F1-B5E2-26FED4CB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11125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3533f89744e47"/>
          <a:stretch xmlns:a="http://schemas.openxmlformats.org/drawingml/2006/main"/>
        </p:blipFill>
        <p:spPr>
          <a:xfrm xmlns:a="http://schemas.openxmlformats.org/drawingml/2006/main">
            <a:off x="1979630" y="3790950"/>
            <a:ext cx="8232740" cy="20955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58FD9-C5A6-48FE-8A56-A69FED7E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1112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The prompt is followed by an executable reference answer, so students can check both method and interpretation.</a:t>
            </a:r>
          </a:p>
        </p:txBody>
      </p:sp>
      <p:sp>
        <p:nvSpPr>
          <p:cNvPr id="24" name="footer-11-rule">
            <a:extLst xmlns:a="http://schemas.openxmlformats.org/drawingml/2006/main">
              <a:ext uri="{FF2B5EF4-FFF2-40B4-BE49-F238E27FC236}">
                <a16:creationId xmlns:a16="http://schemas.microsoft.com/office/drawing/2014/main" id="{FCDA90E6-3E89-4577-A6B9-DA1537BB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footer-11-source">
            <a:extLst xmlns:a="http://schemas.openxmlformats.org/drawingml/2006/main">
              <a:ext uri="{FF2B5EF4-FFF2-40B4-BE49-F238E27FC236}">
                <a16:creationId xmlns:a16="http://schemas.microsoft.com/office/drawing/2014/main" id="{5CB72EAA-BAC0-42A3-BB85-DCAC71B4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Source: Tutorial 1 exercise prompts and Tutorial 1 solutions, E2 output</a:t>
            </a:r>
          </a:p>
        </p:txBody>
      </p:sp>
      <p:sp>
        <p:nvSpPr>
          <p:cNvPr id="26" name="footer-11-number">
            <a:extLst xmlns:a="http://schemas.openxmlformats.org/drawingml/2006/main">
              <a:ext uri="{FF2B5EF4-FFF2-40B4-BE49-F238E27FC236}">
                <a16:creationId xmlns:a16="http://schemas.microsoft.com/office/drawing/2014/main" id="{B161AFB4-7A44-4D34-A278-17D439DC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7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5717B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4745216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EA4F135-DBDA-4878-ABDA-BEABD38F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A3F3FC56-813A-43E0-8BD0-14D6637D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2867A7C0-2643-46BB-8DA2-B06CA3ED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4DCE3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D4DCE3"/>
                </a:solidFill>
                <a:latin typeface="Segoe UI"/>
                <a:ea typeface="Segoe UI"/>
                <a:cs typeface="Segoe UI"/>
              </a:rPr>
              <a:t>PART 2 / NOTEBOOK 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3FB04-5CEB-4C7C-B127-017167BE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2095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B9413A"/>
                </a:solidFill>
                <a:latin typeface="Georgia"/>
                <a:ea typeface="Georgia"/>
                <a:cs typeface="Georgia"/>
              </a:defRPr>
            </a:pPr>
            <a:r>
              <a:rPr sz="6900" b="1">
                <a:solidFill>
                  <a:srgbClr val="B9413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1A4C8-0C92-4FA2-9D78-C6EAD199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066800"/>
            <a:ext cx="809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Stress-test what P/Q cannot observe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CF15E-525D-4C39-985B-BBD607F3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33600"/>
            <a:ext cx="666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C4CE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B8C4CE"/>
                </a:solidFill>
                <a:latin typeface="Segoe UI"/>
                <a:ea typeface="Segoe UI"/>
                <a:cs typeface="Segoe UI"/>
              </a:rPr>
              <a:t>Same LV loading; altered upstream MV condition</a:t>
            </a:r>
          </a:p>
        </p:txBody>
      </p:sp>
      <p:sp>
        <p:nvSpPr>
          <p:cNvPr id="7" name="p2-structure-line">
            <a:extLst xmlns:a="http://schemas.openxmlformats.org/drawingml/2006/main">
              <a:ext uri="{FF2B5EF4-FFF2-40B4-BE49-F238E27FC236}">
                <a16:creationId xmlns:a16="http://schemas.microsoft.com/office/drawing/2014/main" id="{4B387C92-8ECC-43EF-98F0-1A11ABF8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2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p2-step-0">
            <a:extLst xmlns:a="http://schemas.openxmlformats.org/drawingml/2006/main">
              <a:ext uri="{FF2B5EF4-FFF2-40B4-BE49-F238E27FC236}">
                <a16:creationId xmlns:a16="http://schemas.microsoft.com/office/drawing/2014/main" id="{447BA9AD-1069-46FF-A4E5-97C6EB5A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89F38-6331-4625-8D26-63D38049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413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B9413A"/>
                </a:solidFill>
                <a:latin typeface="Segoe UI"/>
                <a:ea typeface="Segoe UI"/>
                <a:cs typeface="Segoe UI"/>
              </a:rPr>
              <a:t>2.3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78FD0-C5CB-408E-AE76-A95EF062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76650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Match P/Q; compare V</a:t>
            </a:r>
          </a:p>
        </p:txBody>
      </p:sp>
      <p:sp>
        <p:nvSpPr>
          <p:cNvPr id="11" name="p2-step-1">
            <a:extLst xmlns:a="http://schemas.openxmlformats.org/drawingml/2006/main">
              <a:ext uri="{FF2B5EF4-FFF2-40B4-BE49-F238E27FC236}">
                <a16:creationId xmlns:a16="http://schemas.microsoft.com/office/drawing/2014/main" id="{E9644F09-7CE3-453C-9B38-C5E80C65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76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992F4-F87D-49F3-879C-270337CC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147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413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B9413A"/>
                </a:solidFill>
                <a:latin typeface="Segoe UI"/>
                <a:ea typeface="Segoe UI"/>
                <a:cs typeface="Segoe UI"/>
              </a:rPr>
              <a:t>2.4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D1CB7-D21E-4C42-ACAC-E00B299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76650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Isolate the MV effect</a:t>
            </a:r>
          </a:p>
        </p:txBody>
      </p:sp>
      <p:sp>
        <p:nvSpPr>
          <p:cNvPr id="14" name="p2-step-2">
            <a:extLst xmlns:a="http://schemas.openxmlformats.org/drawingml/2006/main">
              <a:ext uri="{FF2B5EF4-FFF2-40B4-BE49-F238E27FC236}">
                <a16:creationId xmlns:a16="http://schemas.microsoft.com/office/drawing/2014/main" id="{4BEC681B-62B7-4AAB-BDDB-1C85E15D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76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ECC56F-D671-4A1F-9ED0-3FC1B5F3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147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413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B9413A"/>
                </a:solidFill>
                <a:latin typeface="Segoe UI"/>
                <a:ea typeface="Segoe UI"/>
                <a:cs typeface="Segoe UI"/>
              </a:rPr>
              <a:t>2.5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1C56D-4C63-4E33-AD65-79E4E9B1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76650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Test P/Q-only models</a:t>
            </a:r>
          </a:p>
        </p:txBody>
      </p:sp>
      <p:sp>
        <p:nvSpPr>
          <p:cNvPr id="17" name="p2-step-3">
            <a:extLst xmlns:a="http://schemas.openxmlformats.org/drawingml/2006/main">
              <a:ext uri="{FF2B5EF4-FFF2-40B4-BE49-F238E27FC236}">
                <a16:creationId xmlns:a16="http://schemas.microsoft.com/office/drawing/2014/main" id="{68DC318F-D2EE-47B7-8172-5A8B5825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76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F2AF5-8324-4183-BBAA-A2095B58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147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413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B9413A"/>
                </a:solidFill>
                <a:latin typeface="Segoe UI"/>
                <a:ea typeface="Segoe UI"/>
                <a:cs typeface="Segoe UI"/>
              </a:rPr>
              <a:t>2.6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63031-CA06-4D34-8AA9-A15015E5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76650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Add phase V references</a:t>
            </a:r>
          </a:p>
        </p:txBody>
      </p:sp>
      <p:sp>
        <p:nvSpPr>
          <p:cNvPr id="20" name="p2-step-4">
            <a:extLst xmlns:a="http://schemas.openxmlformats.org/drawingml/2006/main">
              <a:ext uri="{FF2B5EF4-FFF2-40B4-BE49-F238E27FC236}">
                <a16:creationId xmlns:a16="http://schemas.microsoft.com/office/drawing/2014/main" id="{9BC2B22A-37D4-4080-A8F8-82A69B70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76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69A984-A0AC-4BA5-BFE6-AFD647CE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147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413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B9413A"/>
                </a:solidFill>
                <a:latin typeface="Segoe UI"/>
                <a:ea typeface="Segoe UI"/>
                <a:cs typeface="Segoe UI"/>
              </a:rPr>
              <a:t>2.7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1BAABE-066A-4912-B929-0D20C1CC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Compare one scope</a:t>
            </a:r>
          </a:p>
        </p:txBody>
      </p:sp>
      <p:sp>
        <p:nvSpPr>
          <p:cNvPr id="23" name="p2-step-5">
            <a:extLst xmlns:a="http://schemas.openxmlformats.org/drawingml/2006/main">
              <a:ext uri="{FF2B5EF4-FFF2-40B4-BE49-F238E27FC236}">
                <a16:creationId xmlns:a16="http://schemas.microsoft.com/office/drawing/2014/main" id="{16CE203A-A237-4950-B0F8-618BAF63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76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49C235-9658-4458-9932-D5A61FF5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147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413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B9413A"/>
                </a:solidFill>
                <a:latin typeface="Segoe UI"/>
                <a:ea typeface="Segoe UI"/>
                <a:cs typeface="Segoe UI"/>
              </a:rPr>
              <a:t>2.8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315ADA-1BE6-4A2F-BD76-12C4D681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76650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Estimate hosting capacity</a:t>
            </a:r>
          </a:p>
        </p:txBody>
      </p:sp>
      <p:sp>
        <p:nvSpPr>
          <p:cNvPr id="26" name="p2-step-6">
            <a:extLst xmlns:a="http://schemas.openxmlformats.org/drawingml/2006/main">
              <a:ext uri="{FF2B5EF4-FFF2-40B4-BE49-F238E27FC236}">
                <a16:creationId xmlns:a16="http://schemas.microsoft.com/office/drawing/2014/main" id="{E1D51427-70B0-40C6-A194-8EAC22D7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76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C6B9DD-CC38-40CB-8331-FC028291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31470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3725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37256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7B7133-4ADB-4F2B-A66D-46CF8B30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76650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Interpret the result</a:t>
            </a:r>
          </a:p>
        </p:txBody>
      </p:sp>
      <p:sp>
        <p:nvSpPr>
          <p:cNvPr id="29" name="p2-divider-note">
            <a:extLst xmlns:a="http://schemas.openxmlformats.org/drawingml/2006/main">
              <a:ext uri="{FF2B5EF4-FFF2-40B4-BE49-F238E27FC236}">
                <a16:creationId xmlns:a16="http://schemas.microsoft.com/office/drawing/2014/main" id="{FA04E096-6808-47AB-A554-B99443C4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1087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C36"/>
          </a:solidFill>
          <a:ln xmlns:a="http://schemas.openxmlformats.org/drawingml/2006/main" w="9525">
            <a:solidFill>
              <a:srgbClr val="42505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B1F56A-9A12-4128-8694-0D4F9F04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Controlled counterexample -&gt; physical diagnosis -&gt; added measurement -&gt; engineering decision</a:t>
            </a:r>
          </a:p>
        </p:txBody>
      </p:sp>
      <p:sp>
        <p:nvSpPr>
          <p:cNvPr id="31" name="footer-12-rule">
            <a:extLst xmlns:a="http://schemas.openxmlformats.org/drawingml/2006/main">
              <a:ext uri="{FF2B5EF4-FFF2-40B4-BE49-F238E27FC236}">
                <a16:creationId xmlns:a16="http://schemas.microsoft.com/office/drawing/2014/main" id="{1E200351-47C6-486F-AB47-795DA979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footer-12-source">
            <a:extLst xmlns:a="http://schemas.openxmlformats.org/drawingml/2006/main">
              <a:ext uri="{FF2B5EF4-FFF2-40B4-BE49-F238E27FC236}">
                <a16:creationId xmlns:a16="http://schemas.microsoft.com/office/drawing/2014/main" id="{516EA145-02F9-4B66-B6FE-B13F657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EABB6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9EABB6"/>
                </a:solidFill>
                <a:latin typeface="Segoe UI"/>
                <a:ea typeface="Segoe UI"/>
                <a:cs typeface="Segoe UI"/>
              </a:rPr>
              <a:t>Source: Tutorial 2 section headings</a:t>
            </a:r>
          </a:p>
        </p:txBody>
      </p:sp>
      <p:sp>
        <p:nvSpPr>
          <p:cNvPr id="33" name="footer-12-number">
            <a:extLst xmlns:a="http://schemas.openxmlformats.org/drawingml/2006/main">
              <a:ext uri="{FF2B5EF4-FFF2-40B4-BE49-F238E27FC236}">
                <a16:creationId xmlns:a16="http://schemas.microsoft.com/office/drawing/2014/main" id="{917A97F0-4CA1-4B90-B1F8-2D5C2E28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EABB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9EABB6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920335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18D16FC-184D-457A-BDB3-F6EDD99B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81A06AC4-51E6-476D-9D3B-6A92657E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30F15D5C-9392-459F-9F5F-3B5D76B6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PART 2 / CONTROLLED COUNTEREXAMPLE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516CAE7-31D4-41AB-A8F7-660161DF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P/Q differs by only 0.0074%, but voltage changes.</a:t>
            </a:r>
          </a:p>
        </p:txBody>
      </p:sp>
      <p:sp>
        <p:nvSpPr>
          <p:cNvPr id="5" name="p2-matched-pq-voltage-panel">
            <a:extLst xmlns:a="http://schemas.openxmlformats.org/drawingml/2006/main">
              <a:ext uri="{FF2B5EF4-FFF2-40B4-BE49-F238E27FC236}">
                <a16:creationId xmlns:a16="http://schemas.microsoft.com/office/drawing/2014/main" id="{3A233789-EF3E-4E7C-84ED-148AB5A8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5438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5f30c28214fca"/>
          <a:stretch xmlns:a="http://schemas.openxmlformats.org/drawingml/2006/main"/>
        </p:blipFill>
        <p:spPr>
          <a:xfrm xmlns:a="http://schemas.openxmlformats.org/drawingml/2006/main">
            <a:off x="1416693" y="1828800"/>
            <a:ext cx="5777214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2ED9B-BE1D-467C-9A7A-59EF4652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REAL NOTEBOOK OUTPUT / CELL 20</a:t>
            </a:r>
          </a:p>
        </p:txBody>
      </p:sp>
      <p:sp>
        <p:nvSpPr>
          <p:cNvPr id="8" name="counterexample-panel">
            <a:extLst xmlns:a="http://schemas.openxmlformats.org/drawingml/2006/main">
              <a:ext uri="{FF2B5EF4-FFF2-40B4-BE49-F238E27FC236}">
                <a16:creationId xmlns:a16="http://schemas.microsoft.com/office/drawing/2014/main" id="{059715A8-FEAC-44DF-A3CC-E2379BD2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52600"/>
            <a:ext cx="32956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E4536-229F-49A0-93A1-65145D08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002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861A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6861A"/>
                </a:solidFill>
                <a:latin typeface="Segoe UI"/>
                <a:ea typeface="Segoe UI"/>
                <a:cs typeface="Segoe UI"/>
              </a:rPr>
              <a:t>CONTROL 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E73FC-F284-4EB9-9CDE-B226C28E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62200"/>
            <a:ext cx="2800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0.007412%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1C61C-AFCD-4D6F-97A7-46EBA9BE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14650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0D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C7D0D8"/>
                </a:solidFill>
                <a:latin typeface="Segoe UI"/>
                <a:ea typeface="Segoe UI"/>
                <a:cs typeface="Segoe UI"/>
              </a:rPr>
              <a:t>maximum relative P/Q difference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CE35D-77F7-4D82-9166-F5A1B94F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38550"/>
            <a:ext cx="255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57D3F-DFC9-48D9-991F-47B6CE15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2905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13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B9413A"/>
                </a:solidFill>
                <a:latin typeface="Segoe UI"/>
                <a:ea typeface="Segoe UI"/>
                <a:cs typeface="Segoe UI"/>
              </a:rPr>
              <a:t>Notebook assertion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BBFA3-5DF8-49BA-981A-B500FD8E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71950"/>
            <a:ext cx="2552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max_relative_diff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 1e-4</a:t>
            </a:r>
          </a:p>
        </p:txBody>
      </p:sp>
      <p:sp>
        <p:nvSpPr>
          <p:cNvPr id="15" name="voltage-change-callout">
            <a:extLst xmlns:a="http://schemas.openxmlformats.org/drawingml/2006/main">
              <a:ext uri="{FF2B5EF4-FFF2-40B4-BE49-F238E27FC236}">
                <a16:creationId xmlns:a16="http://schemas.microsoft.com/office/drawing/2014/main" id="{DBBBFB4F-C0D6-4238-9D37-64CA7303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62550"/>
            <a:ext cx="2552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EE2DFD-65B1-40F0-81A0-04DCA96D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48275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Same P/Q does not imply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same voltage.</a:t>
            </a:r>
          </a:p>
        </p:txBody>
      </p:sp>
      <p:sp>
        <p:nvSpPr>
          <p:cNvPr id="17" name="footer-13-rule">
            <a:extLst xmlns:a="http://schemas.openxmlformats.org/drawingml/2006/main">
              <a:ext uri="{FF2B5EF4-FFF2-40B4-BE49-F238E27FC236}">
                <a16:creationId xmlns:a16="http://schemas.microsoft.com/office/drawing/2014/main" id="{6FFF3A2C-22FE-4360-92E3-CA0BA570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footer-13-source">
            <a:extLst xmlns:a="http://schemas.openxmlformats.org/drawingml/2006/main">
              <a:ext uri="{FF2B5EF4-FFF2-40B4-BE49-F238E27FC236}">
                <a16:creationId xmlns:a16="http://schemas.microsoft.com/office/drawing/2014/main" id="{ADE4761B-9E61-40DA-BAEF-D80D96A8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Source: Tutorial 2, Section 2.3, cells 18 and 20</a:t>
            </a:r>
          </a:p>
        </p:txBody>
      </p:sp>
      <p:sp>
        <p:nvSpPr>
          <p:cNvPr id="19" name="footer-13-number">
            <a:extLst xmlns:a="http://schemas.openxmlformats.org/drawingml/2006/main">
              <a:ext uri="{FF2B5EF4-FFF2-40B4-BE49-F238E27FC236}">
                <a16:creationId xmlns:a16="http://schemas.microsoft.com/office/drawing/2014/main" id="{D8B475C7-6E81-40D9-A700-958C1B67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7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5717B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4665515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108D179-D99E-4CF8-9CEE-6E4EF898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AD7030ED-86FB-47C1-9F21-06CB1356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B4CB3A7B-4C3F-4502-A4D6-C28F3BB5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PART 2 / PHYSICAL DIAGNOSIS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CFFC178-D93E-48A6-AA69-EE4E5F6E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One subtraction reveals a 97.85% feeder-wide MV effect.</a:t>
            </a:r>
          </a:p>
        </p:txBody>
      </p:sp>
      <p:sp>
        <p:nvSpPr>
          <p:cNvPr id="5" name="p2-mv-summary-code-panel">
            <a:extLst xmlns:a="http://schemas.openxmlformats.org/drawingml/2006/main">
              <a:ext uri="{FF2B5EF4-FFF2-40B4-BE49-F238E27FC236}">
                <a16:creationId xmlns:a16="http://schemas.microsoft.com/office/drawing/2014/main" id="{C1968619-60A6-494E-B7DE-7887459D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6675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a0f43775947a1"/>
          <a:stretch xmlns:a="http://schemas.openxmlformats.org/drawingml/2006/main"/>
        </p:blipFill>
        <p:spPr>
          <a:xfrm xmlns:a="http://schemas.openxmlformats.org/drawingml/2006/main">
            <a:off x="892057" y="1819275"/>
            <a:ext cx="5950185" cy="1752600"/>
          </a:xfrm>
          <a:prstGeom xmlns:a="http://schemas.openxmlformats.org/drawingml/2006/main" prst="rect">
            <a:avLst/>
          </a:prstGeom>
        </p:spPr>
      </p:pic>
      <p:sp>
        <p:nvSpPr>
          <p:cNvPr id="7" name="p2-feeder-wide-effect-panel">
            <a:extLst xmlns:a="http://schemas.openxmlformats.org/drawingml/2006/main">
              <a:ext uri="{FF2B5EF4-FFF2-40B4-BE49-F238E27FC236}">
                <a16:creationId xmlns:a16="http://schemas.microsoft.com/office/drawing/2014/main" id="{7EB4B8C0-1A01-41C2-953A-F448509E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6675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058a1aadb4e07"/>
          <a:stretch xmlns:a="http://schemas.openxmlformats.org/drawingml/2006/main"/>
        </p:blipFill>
        <p:spPr>
          <a:xfrm xmlns:a="http://schemas.openxmlformats.org/drawingml/2006/main">
            <a:off x="1330936" y="3924300"/>
            <a:ext cx="5072429" cy="2000250"/>
          </a:xfrm>
          <a:prstGeom xmlns:a="http://schemas.openxmlformats.org/drawingml/2006/main" prst="rect">
            <a:avLst/>
          </a:prstGeom>
        </p:spPr>
      </p:pic>
      <p:sp>
        <p:nvSpPr>
          <p:cNvPr id="9" name="decomposition-panel">
            <a:extLst xmlns:a="http://schemas.openxmlformats.org/drawingml/2006/main">
              <a:ext uri="{FF2B5EF4-FFF2-40B4-BE49-F238E27FC236}">
                <a16:creationId xmlns:a16="http://schemas.microsoft.com/office/drawing/2014/main" id="{0D2911AE-67ED-49FE-B3E5-4B0E52DB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417195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12D02-C6B4-441D-9AF6-24CD55CA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00250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861A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6861A"/>
                </a:solidFill>
                <a:latin typeface="Segoe UI"/>
                <a:ea typeface="Segoe UI"/>
                <a:cs typeface="Segoe UI"/>
              </a:rPr>
              <a:t>VARIANCE DECOMPOSITION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BAC63-057D-4188-BDBF-9EC19467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62200"/>
            <a:ext cx="3638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97.85%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90D75-D88B-44A1-A4EC-AFA6A6EE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95600"/>
            <a:ext cx="3638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D0D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C7D0D8"/>
                </a:solidFill>
                <a:latin typeface="Segoe UI"/>
                <a:ea typeface="Segoe UI"/>
                <a:cs typeface="Segoe UI"/>
              </a:rPr>
              <a:t>feeder-wide component</a:t>
            </a:r>
          </a:p>
        </p:txBody>
      </p:sp>
      <p:sp>
        <p:nvSpPr>
          <p:cNvPr id="13" name="wide-component-bar">
            <a:extLst xmlns:a="http://schemas.openxmlformats.org/drawingml/2006/main">
              <a:ext uri="{FF2B5EF4-FFF2-40B4-BE49-F238E27FC236}">
                <a16:creationId xmlns:a16="http://schemas.microsoft.com/office/drawing/2014/main" id="{E8408F02-A52D-4C48-9F75-D4AAEC76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52800"/>
            <a:ext cx="3409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phase-component-bar">
            <a:extLst xmlns:a="http://schemas.openxmlformats.org/drawingml/2006/main">
              <a:ext uri="{FF2B5EF4-FFF2-40B4-BE49-F238E27FC236}">
                <a16:creationId xmlns:a16="http://schemas.microsoft.com/office/drawing/2014/main" id="{20B62BC2-1654-4DFA-8599-9B6B97E3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6715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A5CBB-F56D-4B26-AE20-5CC4DBFE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05250"/>
            <a:ext cx="3181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2.15%  phase component</a:t>
            </a:r>
          </a:p>
        </p:txBody>
      </p:sp>
      <p:sp>
        <p:nvSpPr>
          <p:cNvPr id="16" name="residual-component-bar">
            <a:extLst xmlns:a="http://schemas.openxmlformats.org/drawingml/2006/main">
              <a:ext uri="{FF2B5EF4-FFF2-40B4-BE49-F238E27FC236}">
                <a16:creationId xmlns:a16="http://schemas.microsoft.com/office/drawing/2014/main" id="{79CD39A7-C1ED-44B9-A133-454B5C4D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815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5218B-6ADE-4BE2-BF5A-7B1DB5DC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19600"/>
            <a:ext cx="3181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0.00028%  residual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3A1A5-7210-47D8-9E7D-42136BEA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2920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261ED0-845B-4489-B10C-B0FC1E65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219700"/>
            <a:ext cx="3409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Mean MV effect  -1.3211 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756107-716B-4701-A1B5-EDC6BBF4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81650"/>
            <a:ext cx="3409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0D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C7D0D8"/>
                </a:solidFill>
                <a:latin typeface="Segoe UI"/>
                <a:ea typeface="Segoe UI"/>
                <a:cs typeface="Segoe UI"/>
              </a:rPr>
              <a:t>Standard deviation  0.5478 V</a:t>
            </a:r>
          </a:p>
        </p:txBody>
      </p:sp>
      <p:sp>
        <p:nvSpPr>
          <p:cNvPr id="21" name="footer-14-rule">
            <a:extLst xmlns:a="http://schemas.openxmlformats.org/drawingml/2006/main">
              <a:ext uri="{FF2B5EF4-FFF2-40B4-BE49-F238E27FC236}">
                <a16:creationId xmlns:a16="http://schemas.microsoft.com/office/drawing/2014/main" id="{2EBD6E6A-AB97-4A2B-91A0-B2EE2DF8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footer-14-source">
            <a:extLst xmlns:a="http://schemas.openxmlformats.org/drawingml/2006/main">
              <a:ext uri="{FF2B5EF4-FFF2-40B4-BE49-F238E27FC236}">
                <a16:creationId xmlns:a16="http://schemas.microsoft.com/office/drawing/2014/main" id="{9D4795C0-E8E7-468E-A4D5-DE631D12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Source: Tutorial 2, Sections 2.4.1-2.4.2, cells 22 and 25</a:t>
            </a:r>
          </a:p>
        </p:txBody>
      </p:sp>
      <p:sp>
        <p:nvSpPr>
          <p:cNvPr id="23" name="footer-14-number">
            <a:extLst xmlns:a="http://schemas.openxmlformats.org/drawingml/2006/main">
              <a:ext uri="{FF2B5EF4-FFF2-40B4-BE49-F238E27FC236}">
                <a16:creationId xmlns:a16="http://schemas.microsoft.com/office/drawing/2014/main" id="{184F8240-30A0-46DD-A1D8-6D07A9ED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7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5717B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0570575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4586538-CE08-4AC9-838F-01DE88D4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720AE757-814B-4262-B5A5-9719992B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C3FB61CA-8653-4673-BC4D-EF007062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PART 2 / FAILURE TEST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C3997AA-663B-4E67-951C-10DE04C9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Linear and neural P/Q-only models both fail when MV is hidden.</a:t>
            </a:r>
          </a:p>
        </p:txBody>
      </p:sp>
      <p:sp>
        <p:nvSpPr>
          <p:cNvPr id="5" name="p2-model-comparison-table-panel">
            <a:extLst xmlns:a="http://schemas.openxmlformats.org/drawingml/2006/main">
              <a:ext uri="{FF2B5EF4-FFF2-40B4-BE49-F238E27FC236}">
                <a16:creationId xmlns:a16="http://schemas.microsoft.com/office/drawing/2014/main" id="{4B8FC814-051B-4989-859E-6275D9B5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0007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42e19646f4082"/>
          <a:stretch xmlns:a="http://schemas.openxmlformats.org/drawingml/2006/main"/>
        </p:blipFill>
        <p:spPr>
          <a:xfrm xmlns:a="http://schemas.openxmlformats.org/drawingml/2006/main">
            <a:off x="609600" y="1893377"/>
            <a:ext cx="5848350" cy="2633096"/>
          </a:xfrm>
          <a:prstGeom xmlns:a="http://schemas.openxmlformats.org/drawingml/2006/main" prst="rect">
            <a:avLst/>
          </a:prstGeom>
        </p:spPr>
      </p:pic>
      <p:sp>
        <p:nvSpPr>
          <p:cNvPr id="7" name="p2-model-comparison-bar-panel">
            <a:extLst xmlns:a="http://schemas.openxmlformats.org/drawingml/2006/main">
              <a:ext uri="{FF2B5EF4-FFF2-40B4-BE49-F238E27FC236}">
                <a16:creationId xmlns:a16="http://schemas.microsoft.com/office/drawing/2014/main" id="{6A393549-49DB-4BF6-8195-1BDB9CA9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52600"/>
            <a:ext cx="4838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0a2624f5b45b4"/>
          <a:stretch xmlns:a="http://schemas.openxmlformats.org/drawingml/2006/main"/>
        </p:blipFill>
        <p:spPr>
          <a:xfrm xmlns:a="http://schemas.openxmlformats.org/drawingml/2006/main">
            <a:off x="6896100" y="2183151"/>
            <a:ext cx="4686300" cy="2053547"/>
          </a:xfrm>
          <a:prstGeom xmlns:a="http://schemas.openxmlformats.org/drawingml/2006/main" prst="rect">
            <a:avLst/>
          </a:prstGeom>
        </p:spPr>
      </p:pic>
      <p:sp>
        <p:nvSpPr>
          <p:cNvPr id="9" name="observability-result">
            <a:extLst xmlns:a="http://schemas.openxmlformats.org/drawingml/2006/main">
              <a:ext uri="{FF2B5EF4-FFF2-40B4-BE49-F238E27FC236}">
                <a16:creationId xmlns:a16="http://schemas.microsoft.com/office/drawing/2014/main" id="{A37A24DA-299E-4898-A29C-24AE8C21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11125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9201D-621F-40EB-9856-906CED7D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D0D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7D0D8"/>
                </a:solidFill>
                <a:latin typeface="Segoe UI"/>
                <a:ea typeface="Segoe UI"/>
                <a:cs typeface="Segoe UI"/>
              </a:rPr>
              <a:t>Fixed MV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68F2E-8277-4D20-9D4D-C64D4753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37256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237256"/>
                </a:solidFill>
                <a:latin typeface="Georgia"/>
                <a:ea typeface="Georgia"/>
                <a:cs typeface="Georgia"/>
              </a:rPr>
              <a:t>0.0128 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8850D-5459-42E2-A2D4-FD36C3CC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244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D0D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7D0D8"/>
                </a:solidFill>
                <a:latin typeface="Segoe UI"/>
                <a:ea typeface="Segoe UI"/>
                <a:cs typeface="Segoe UI"/>
              </a:rPr>
              <a:t>Varying MV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5F826-7123-4A5C-ABDB-BE87AB21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91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413A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B9413A"/>
                </a:solidFill>
                <a:latin typeface="Georgia"/>
                <a:ea typeface="Georgia"/>
                <a:cs typeface="Georgia"/>
              </a:rPr>
              <a:t>0.6126 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2D8A7-3483-4603-B54D-F7489621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2445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4459C-6D40-44CC-84A2-34029F1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43500"/>
            <a:ext cx="529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shared failure is the lesson: this is an observability problem, not a neural-network victory.</a:t>
            </a:r>
          </a:p>
        </p:txBody>
      </p:sp>
      <p:sp>
        <p:nvSpPr>
          <p:cNvPr id="16" name="footer-15-rule">
            <a:extLst xmlns:a="http://schemas.openxmlformats.org/drawingml/2006/main">
              <a:ext uri="{FF2B5EF4-FFF2-40B4-BE49-F238E27FC236}">
                <a16:creationId xmlns:a16="http://schemas.microsoft.com/office/drawing/2014/main" id="{92E44626-70A5-4A1D-828A-22BC39E5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footer-15-source">
            <a:extLst xmlns:a="http://schemas.openxmlformats.org/drawingml/2006/main">
              <a:ext uri="{FF2B5EF4-FFF2-40B4-BE49-F238E27FC236}">
                <a16:creationId xmlns:a16="http://schemas.microsoft.com/office/drawing/2014/main" id="{BC6075D0-C681-4964-9335-09F523B6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Source: Tutorial 2, Section 2.5, cell 28 outputs</a:t>
            </a:r>
          </a:p>
        </p:txBody>
      </p:sp>
      <p:sp>
        <p:nvSpPr>
          <p:cNvPr id="18" name="footer-15-number">
            <a:extLst xmlns:a="http://schemas.openxmlformats.org/drawingml/2006/main">
              <a:ext uri="{FF2B5EF4-FFF2-40B4-BE49-F238E27FC236}">
                <a16:creationId xmlns:a16="http://schemas.microsoft.com/office/drawing/2014/main" id="{F9E9B278-8B07-4F0D-BA9C-943C4DFF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7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5717B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8772573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9DC1E25-A4DF-4ECB-972F-5CA258DD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6D8AA45D-243C-4B6F-BE3A-94D5AB09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60DF3858-CC81-4DC7-8CE4-830D8F88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PART 2 / RESTORE OBSERVABILITY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914B2B0-43D3-4F79-99F4-5C8FF072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One voltage reference per phase restores RMSE to 0.0197 V.</a:t>
            </a:r>
          </a:p>
        </p:txBody>
      </p:sp>
      <p:sp>
        <p:nvSpPr>
          <p:cNvPr id="5" name="vref-input-panel">
            <a:extLst xmlns:a="http://schemas.openxmlformats.org/drawingml/2006/main">
              <a:ext uri="{FF2B5EF4-FFF2-40B4-BE49-F238E27FC236}">
                <a16:creationId xmlns:a16="http://schemas.microsoft.com/office/drawing/2014/main" id="{430CDAD7-8941-48F8-BCE7-D5784C8E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3815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FD7CA-8612-4B9D-920A-11BA32B4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388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861A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6861A"/>
                </a:solidFill>
                <a:latin typeface="Segoe UI"/>
                <a:ea typeface="Segoe UI"/>
                <a:cs typeface="Segoe UI"/>
              </a:rPr>
              <a:t>ADD THREE MEASUREMENTS</a:t>
            </a:r>
          </a:p>
        </p:txBody>
      </p:sp>
      <p:sp>
        <p:nvSpPr>
          <p:cNvPr id="7" name="phase-ref-0">
            <a:extLst xmlns:a="http://schemas.openxmlformats.org/drawingml/2006/main">
              <a:ext uri="{FF2B5EF4-FFF2-40B4-BE49-F238E27FC236}">
                <a16:creationId xmlns:a16="http://schemas.microsoft.com/office/drawing/2014/main" id="{51F5CE9F-05A7-464A-BB79-168E5219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75D4C-221C-4864-A528-F7FE4A13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1C783-7383-496C-9D1E-10493F25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9825"/>
            <a:ext cx="3105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Phase A / voltage reference</a:t>
            </a:r>
          </a:p>
        </p:txBody>
      </p:sp>
      <p:sp>
        <p:nvSpPr>
          <p:cNvPr id="10" name="phase-ref-1">
            <a:extLst xmlns:a="http://schemas.openxmlformats.org/drawingml/2006/main">
              <a:ext uri="{FF2B5EF4-FFF2-40B4-BE49-F238E27FC236}">
                <a16:creationId xmlns:a16="http://schemas.microsoft.com/office/drawing/2014/main" id="{A1B7A9A9-DE89-46A7-B3D0-B2EAD1C6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5CEB4-0C95-4388-9978-D1383B3B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575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8E265-FC7D-4BA4-A9C7-D1EF2788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19425"/>
            <a:ext cx="3105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Phase B / voltage reference</a:t>
            </a:r>
          </a:p>
        </p:txBody>
      </p:sp>
      <p:sp>
        <p:nvSpPr>
          <p:cNvPr id="13" name="phase-ref-2">
            <a:extLst xmlns:a="http://schemas.openxmlformats.org/drawingml/2006/main">
              <a:ext uri="{FF2B5EF4-FFF2-40B4-BE49-F238E27FC236}">
                <a16:creationId xmlns:a16="http://schemas.microsoft.com/office/drawing/2014/main" id="{CC2FF52A-53A1-492D-ADBA-4AC9B001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C40B6-569A-472C-B65C-1F46157D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E5D9C-E8A2-4959-BA66-63E3B219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29025"/>
            <a:ext cx="3105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Phase C / voltage reference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8A2E4-9DD2-421D-8D5E-ECF3BE9C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388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6861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C6861A"/>
                </a:solidFill>
                <a:latin typeface="Segoe UI"/>
                <a:ea typeface="Segoe UI"/>
                <a:cs typeface="Segoe UI"/>
              </a:rPr>
              <a:t>Evaluate only C4-C31</a:t>
            </a:r>
          </a:p>
        </p:txBody>
      </p:sp>
      <p:sp>
        <p:nvSpPr>
          <p:cNvPr id="17" name="p2-common-scope-table-panel">
            <a:extLst xmlns:a="http://schemas.openxmlformats.org/drawingml/2006/main">
              <a:ext uri="{FF2B5EF4-FFF2-40B4-BE49-F238E27FC236}">
                <a16:creationId xmlns:a16="http://schemas.microsoft.com/office/drawing/2014/main" id="{BC397BC4-8D14-4EE3-BFA1-A999BB2F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52600"/>
            <a:ext cx="64579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679db09684c89"/>
          <a:stretch xmlns:a="http://schemas.openxmlformats.org/drawingml/2006/main"/>
        </p:blipFill>
        <p:spPr>
          <a:xfrm xmlns:a="http://schemas.openxmlformats.org/drawingml/2006/main">
            <a:off x="5276850" y="1970536"/>
            <a:ext cx="6305550" cy="2535928"/>
          </a:xfrm>
          <a:prstGeom xmlns:a="http://schemas.openxmlformats.org/drawingml/2006/main" prst="rect">
            <a:avLst/>
          </a:prstGeom>
        </p:spPr>
      </p:pic>
      <p:sp>
        <p:nvSpPr>
          <p:cNvPr id="19" name="vref-benefit-strip">
            <a:extLst xmlns:a="http://schemas.openxmlformats.org/drawingml/2006/main">
              <a:ext uri="{FF2B5EF4-FFF2-40B4-BE49-F238E27FC236}">
                <a16:creationId xmlns:a16="http://schemas.microsoft.com/office/drawing/2014/main" id="{3B3FA416-1098-42DE-9400-81EE9B9D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11125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BF4A6-2AB6-4464-8C3B-1F936BA5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P/Q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6D9945-5D43-4063-84A5-EA6D496D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413A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B9413A"/>
                </a:solidFill>
                <a:latin typeface="Georgia"/>
                <a:ea typeface="Georgia"/>
                <a:cs typeface="Georgia"/>
              </a:rPr>
              <a:t>0.6147 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184F42-DB68-43EB-94C0-6E744998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81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+ phase Vref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33B2DE-5D01-424C-A168-1F652166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483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37256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237256"/>
                </a:solidFill>
                <a:latin typeface="Georgia"/>
                <a:ea typeface="Georgia"/>
                <a:cs typeface="Georgia"/>
              </a:rPr>
              <a:t>0.0197 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D7B810-DF41-4A4B-849E-AB36B2EB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4350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85C43E-8264-4E2A-B8A5-DF2BAAB2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57A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457A7"/>
                </a:solidFill>
                <a:latin typeface="Georgia"/>
                <a:ea typeface="Georgia"/>
                <a:cs typeface="Georgia"/>
              </a:rPr>
              <a:t>96.8%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6A644F-9809-4344-9E2E-48783783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29590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RMSE reduction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5D643E-81E2-44D5-9DF7-7245C0C9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81600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37256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237256"/>
                </a:solidFill>
                <a:latin typeface="Georgia"/>
                <a:ea typeface="Georgia"/>
                <a:cs typeface="Georgia"/>
              </a:rPr>
              <a:t>28 / 28 customers improve</a:t>
            </a:r>
          </a:p>
        </p:txBody>
      </p:sp>
      <p:sp>
        <p:nvSpPr>
          <p:cNvPr id="28" name="footer-16-rule">
            <a:extLst xmlns:a="http://schemas.openxmlformats.org/drawingml/2006/main">
              <a:ext uri="{FF2B5EF4-FFF2-40B4-BE49-F238E27FC236}">
                <a16:creationId xmlns:a16="http://schemas.microsoft.com/office/drawing/2014/main" id="{B069D4CA-47D6-45EF-9A0A-1242C4A5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ooter-16-source">
            <a:extLst xmlns:a="http://schemas.openxmlformats.org/drawingml/2006/main">
              <a:ext uri="{FF2B5EF4-FFF2-40B4-BE49-F238E27FC236}">
                <a16:creationId xmlns:a16="http://schemas.microsoft.com/office/drawing/2014/main" id="{05B28FDA-6640-4C79-B033-C7EF2911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Source: Tutorial 2, Section 2.7, cell 40 common-scope comparison</a:t>
            </a:r>
          </a:p>
        </p:txBody>
      </p:sp>
      <p:sp>
        <p:nvSpPr>
          <p:cNvPr id="30" name="footer-16-number">
            <a:extLst xmlns:a="http://schemas.openxmlformats.org/drawingml/2006/main">
              <a:ext uri="{FF2B5EF4-FFF2-40B4-BE49-F238E27FC236}">
                <a16:creationId xmlns:a16="http://schemas.microsoft.com/office/drawing/2014/main" id="{4FEE912D-A8DE-4F32-9F8B-9B0DB0ED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7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5717B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3998571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92A7CD9-EBA4-45C0-87AC-6A8F8FC5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4E8F9298-AC26-4947-8650-3D847733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7A92B5DF-03F8-4859-B94C-C3542E49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PART 2 / ENGINEERING DECISION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01D4D96-5EA6-4868-9222-2D65F9A5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Hosting-capacity error falls from +17.6% to +0.5%.</a:t>
            </a:r>
          </a:p>
        </p:txBody>
      </p:sp>
      <p:sp>
        <p:nvSpPr>
          <p:cNvPr id="5" name="p2-hosting-capacity-bar-panel">
            <a:extLst xmlns:a="http://schemas.openxmlformats.org/drawingml/2006/main">
              <a:ext uri="{FF2B5EF4-FFF2-40B4-BE49-F238E27FC236}">
                <a16:creationId xmlns:a16="http://schemas.microsoft.com/office/drawing/2014/main" id="{C2F46A00-96B5-4B2A-9E80-AFEF32AC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2293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28e63818a4c4c"/>
          <a:stretch xmlns:a="http://schemas.openxmlformats.org/drawingml/2006/main"/>
        </p:blipFill>
        <p:spPr>
          <a:xfrm xmlns:a="http://schemas.openxmlformats.org/drawingml/2006/main">
            <a:off x="609600" y="1928993"/>
            <a:ext cx="6076950" cy="3000013"/>
          </a:xfrm>
          <a:prstGeom xmlns:a="http://schemas.openxmlformats.org/drawingml/2006/main" prst="rect">
            <a:avLst/>
          </a:prstGeom>
        </p:spPr>
      </p:pic>
      <p:sp>
        <p:nvSpPr>
          <p:cNvPr id="7" name="hosting-capacity-metrics">
            <a:extLst xmlns:a="http://schemas.openxmlformats.org/drawingml/2006/main">
              <a:ext uri="{FF2B5EF4-FFF2-40B4-BE49-F238E27FC236}">
                <a16:creationId xmlns:a16="http://schemas.microsoft.com/office/drawing/2014/main" id="{B84F3495-3070-426B-8263-F9EBCEA8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52600"/>
            <a:ext cx="46101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8E270-499B-4C9D-BF04-DB169827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81200"/>
            <a:ext cx="407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861A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6861A"/>
                </a:solidFill>
                <a:latin typeface="Segoe UI"/>
                <a:ea typeface="Segoe UI"/>
                <a:cs typeface="Segoe UI"/>
              </a:rPr>
              <a:t>COMMON DECISION 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4EE69-EA46-4ABB-A0C3-5C0554EB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431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4.841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E12FB-64DD-4A44-920C-83546DB1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003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D0D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7D0D8"/>
                </a:solidFill>
                <a:latin typeface="Segoe UI"/>
                <a:ea typeface="Segoe UI"/>
                <a:cs typeface="Segoe UI"/>
              </a:rPr>
              <a:t>kW / customer truth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57783-0C0A-4DDB-A9B5-2E653A48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431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9413A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B9413A"/>
                </a:solidFill>
                <a:latin typeface="Georgia"/>
                <a:ea typeface="Georgia"/>
                <a:cs typeface="Georgia"/>
              </a:rPr>
              <a:t>5.693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2873A-1E8F-4A94-8AC9-45FE5B44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003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D0D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7D0D8"/>
                </a:solidFill>
                <a:latin typeface="Segoe UI"/>
                <a:ea typeface="Segoe UI"/>
                <a:cs typeface="Segoe UI"/>
              </a:rPr>
              <a:t>P/Q only  (+17.6%)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9D055-69C5-471D-AF4B-58D02F0C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90900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0240B-D6C3-49BE-BDF9-626F709C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385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7256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237256"/>
                </a:solidFill>
                <a:latin typeface="Georgia"/>
                <a:ea typeface="Georgia"/>
                <a:cs typeface="Georgia"/>
              </a:rPr>
              <a:t>4.866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417D1-1D05-488C-AD05-EE5F877F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957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D0D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7D0D8"/>
                </a:solidFill>
                <a:latin typeface="Segoe UI"/>
                <a:ea typeface="Segoe UI"/>
                <a:cs typeface="Segoe UI"/>
              </a:rPr>
              <a:t>with phase Vref</a:t>
            </a:r>
          </a:p>
        </p:txBody>
      </p:sp>
      <p:sp>
        <p:nvSpPr>
          <p:cNvPr id="16" name="hc-error-box">
            <a:extLst xmlns:a="http://schemas.openxmlformats.org/drawingml/2006/main">
              <a:ext uri="{FF2B5EF4-FFF2-40B4-BE49-F238E27FC236}">
                <a16:creationId xmlns:a16="http://schemas.microsoft.com/office/drawing/2014/main" id="{07720368-05F1-423C-9B4E-99A29A8B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385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14AB0-4BDC-40CF-92DB-F56B7C15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5285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+0.5% error</a:t>
            </a:r>
          </a:p>
        </p:txBody>
      </p:sp>
      <p:sp>
        <p:nvSpPr>
          <p:cNvPr id="18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EDF6FD83-59A7-42CA-A01E-CAEA66DE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E0"/>
          </a:solidFill>
          <a:ln xmlns:a="http://schemas.openxmlformats.org/drawingml/2006/main" w="9525">
            <a:solidFill>
              <a:srgbClr val="B941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8AD5F-5109-4637-A456-0A1810C5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413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B9413A"/>
                </a:solidFill>
                <a:latin typeface="Segoe UI"/>
                <a:ea typeface="Segoe UI"/>
                <a:cs typeface="Segoe UI"/>
              </a:rPr>
              <a:t>E3 prompt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61209-0DE8-44DE-951A-08C00EC7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76875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Which estimator is unsafe, which is closest to truth, and why does Vref change the decision?</a:t>
            </a:r>
          </a:p>
        </p:txBody>
      </p:sp>
      <p:sp>
        <p:nvSpPr>
          <p:cNvPr id="21" name="footer-17-rule">
            <a:extLst xmlns:a="http://schemas.openxmlformats.org/drawingml/2006/main">
              <a:ext uri="{FF2B5EF4-FFF2-40B4-BE49-F238E27FC236}">
                <a16:creationId xmlns:a16="http://schemas.microsoft.com/office/drawing/2014/main" id="{D1A40635-0C40-4018-87C1-5F8537E3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footer-17-source">
            <a:extLst xmlns:a="http://schemas.openxmlformats.org/drawingml/2006/main">
              <a:ext uri="{FF2B5EF4-FFF2-40B4-BE49-F238E27FC236}">
                <a16:creationId xmlns:a16="http://schemas.microsoft.com/office/drawing/2014/main" id="{A247630B-04A3-46F9-970C-AFBF5764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Source: Tutorial 2, Sections 2.8 and 3, cell 43 and Exercise 3</a:t>
            </a:r>
          </a:p>
        </p:txBody>
      </p:sp>
      <p:sp>
        <p:nvSpPr>
          <p:cNvPr id="23" name="footer-17-number">
            <a:extLst xmlns:a="http://schemas.openxmlformats.org/drawingml/2006/main">
              <a:ext uri="{FF2B5EF4-FFF2-40B4-BE49-F238E27FC236}">
                <a16:creationId xmlns:a16="http://schemas.microsoft.com/office/drawing/2014/main" id="{426C13CB-6667-46A8-AF1A-7A9D551B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7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5717B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0949657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9ABDF3F-7B25-45D3-9BEF-4D34AF31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447207AE-F765-4E72-841E-0DF4B327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712E9B2E-5F04-4F73-9EB9-EB9A26D8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4DCE3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D4DCE3"/>
                </a:solidFill>
                <a:latin typeface="Segoe UI"/>
                <a:ea typeface="Segoe UI"/>
                <a:cs typeface="Segoe UI"/>
              </a:rPr>
              <a:t>CURRENT READINESS / NEXT SPRINT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85FF657-22D4-4341-8ACB-B5D602FD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teaching arc exists; Part 2 now needs reproducibility and learner validation.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6FD84-2B01-49BB-B443-161AC9E1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2343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C4CE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B8C4CE"/>
                </a:solidFill>
                <a:latin typeface="Segoe UI"/>
                <a:ea typeface="Segoe UI"/>
                <a:cs typeface="Segoe UI"/>
              </a:rPr>
              <a:t>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D1FAC-253B-40EE-B62D-45B535D3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526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C4CE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B8C4CE"/>
                </a:solidFill>
                <a:latin typeface="Segoe UI"/>
                <a:ea typeface="Segoe UI"/>
                <a:cs typeface="Segoe UI"/>
              </a:rPr>
              <a:t>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50630-05B4-48EE-9CAF-503BD2F6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526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C4CE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B8C4CE"/>
                </a:solidFill>
                <a:latin typeface="Segoe UI"/>
                <a:ea typeface="Segoe UI"/>
                <a:cs typeface="Segoe UI"/>
              </a:rPr>
              <a:t>Outputs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F061A-9654-482F-9A3C-F9024687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526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C4CE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B8C4CE"/>
                </a:solidFill>
                <a:latin typeface="Segoe UI"/>
                <a:ea typeface="Segoe UI"/>
                <a:cs typeface="Segoe UI"/>
              </a:rPr>
              <a:t>Reproducible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13395-85DB-42FB-9F1D-C03C1270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526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C4CE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B8C4CE"/>
                </a:solidFill>
                <a:latin typeface="Segoe UI"/>
                <a:ea typeface="Segoe UI"/>
                <a:cs typeface="Segoe UI"/>
              </a:rPr>
              <a:t>Novice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C5D14-7FA4-4EC2-A2A1-76FCB7CE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adiness-row-0">
            <a:extLst xmlns:a="http://schemas.openxmlformats.org/drawingml/2006/main">
              <a:ext uri="{FF2B5EF4-FFF2-40B4-BE49-F238E27FC236}">
                <a16:creationId xmlns:a16="http://schemas.microsoft.com/office/drawing/2014/main" id="{49BA801E-0AF8-494B-8B52-A2E88AD6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C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EA496-CB8A-48C6-BA2A-6BEA543B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Part 1 tutorial</a:t>
            </a:r>
          </a:p>
        </p:txBody>
      </p:sp>
      <p:sp>
        <p:nvSpPr>
          <p:cNvPr id="13" name="readiness-430-249">
            <a:extLst xmlns:a="http://schemas.openxmlformats.org/drawingml/2006/main">
              <a:ext uri="{FF2B5EF4-FFF2-40B4-BE49-F238E27FC236}">
                <a16:creationId xmlns:a16="http://schemas.microsoft.com/office/drawing/2014/main" id="{C3A7F311-05ED-447A-95DC-6367271B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71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adiness-628-249">
            <a:extLst xmlns:a="http://schemas.openxmlformats.org/drawingml/2006/main">
              <a:ext uri="{FF2B5EF4-FFF2-40B4-BE49-F238E27FC236}">
                <a16:creationId xmlns:a16="http://schemas.microsoft.com/office/drawing/2014/main" id="{0FBA35FA-477B-4FB7-B8CD-67F4CCB5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71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adiness-826-249">
            <a:extLst xmlns:a="http://schemas.openxmlformats.org/drawingml/2006/main">
              <a:ext uri="{FF2B5EF4-FFF2-40B4-BE49-F238E27FC236}">
                <a16:creationId xmlns:a16="http://schemas.microsoft.com/office/drawing/2014/main" id="{FE557493-EDE8-4AE4-A58F-E6A6B9D1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71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adiness-1077-249">
            <a:extLst xmlns:a="http://schemas.openxmlformats.org/drawingml/2006/main">
              <a:ext uri="{FF2B5EF4-FFF2-40B4-BE49-F238E27FC236}">
                <a16:creationId xmlns:a16="http://schemas.microsoft.com/office/drawing/2014/main" id="{1D875441-4FEC-4DA8-AFA8-D6209BDB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371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adiness-row-1">
            <a:extLst xmlns:a="http://schemas.openxmlformats.org/drawingml/2006/main">
              <a:ext uri="{FF2B5EF4-FFF2-40B4-BE49-F238E27FC236}">
                <a16:creationId xmlns:a16="http://schemas.microsoft.com/office/drawing/2014/main" id="{3F1807FE-8DEB-4595-B6FD-06641E04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F11EB-5432-46AB-8FDF-4CEA4FC9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Part 1 solutions</a:t>
            </a:r>
          </a:p>
        </p:txBody>
      </p:sp>
      <p:sp>
        <p:nvSpPr>
          <p:cNvPr id="19" name="readiness-430-307">
            <a:extLst xmlns:a="http://schemas.openxmlformats.org/drawingml/2006/main">
              <a:ext uri="{FF2B5EF4-FFF2-40B4-BE49-F238E27FC236}">
                <a16:creationId xmlns:a16="http://schemas.microsoft.com/office/drawing/2014/main" id="{FDA46102-7FFE-443D-A33D-862531FD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24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adiness-628-307">
            <a:extLst xmlns:a="http://schemas.openxmlformats.org/drawingml/2006/main">
              <a:ext uri="{FF2B5EF4-FFF2-40B4-BE49-F238E27FC236}">
                <a16:creationId xmlns:a16="http://schemas.microsoft.com/office/drawing/2014/main" id="{156D6EA2-AD27-4C63-873F-33971D96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24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adiness-826-307">
            <a:extLst xmlns:a="http://schemas.openxmlformats.org/drawingml/2006/main">
              <a:ext uri="{FF2B5EF4-FFF2-40B4-BE49-F238E27FC236}">
                <a16:creationId xmlns:a16="http://schemas.microsoft.com/office/drawing/2014/main" id="{F4565E1A-DCF4-494B-8B76-EDAF14F5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24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adiness-1077-307">
            <a:extLst xmlns:a="http://schemas.openxmlformats.org/drawingml/2006/main">
              <a:ext uri="{FF2B5EF4-FFF2-40B4-BE49-F238E27FC236}">
                <a16:creationId xmlns:a16="http://schemas.microsoft.com/office/drawing/2014/main" id="{7463C52C-25EB-4DB7-96BE-AB684D74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924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adiness-row-2">
            <a:extLst xmlns:a="http://schemas.openxmlformats.org/drawingml/2006/main">
              <a:ext uri="{FF2B5EF4-FFF2-40B4-BE49-F238E27FC236}">
                <a16:creationId xmlns:a16="http://schemas.microsoft.com/office/drawing/2014/main" id="{840552C4-A14B-4345-BC44-C6B4F0DA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C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719FE4-2B53-4FE2-ACCE-56188CF1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Part 2 tutorial</a:t>
            </a:r>
          </a:p>
        </p:txBody>
      </p:sp>
      <p:sp>
        <p:nvSpPr>
          <p:cNvPr id="25" name="readiness-430-365">
            <a:extLst xmlns:a="http://schemas.openxmlformats.org/drawingml/2006/main">
              <a:ext uri="{FF2B5EF4-FFF2-40B4-BE49-F238E27FC236}">
                <a16:creationId xmlns:a16="http://schemas.microsoft.com/office/drawing/2014/main" id="{4EDE9F86-3EF0-4E8D-9948-390DE1EB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adiness-628-365">
            <a:extLst xmlns:a="http://schemas.openxmlformats.org/drawingml/2006/main">
              <a:ext uri="{FF2B5EF4-FFF2-40B4-BE49-F238E27FC236}">
                <a16:creationId xmlns:a16="http://schemas.microsoft.com/office/drawing/2014/main" id="{CB16D14D-65B8-42D4-8C11-95FDEE4E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76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adiness-826-365">
            <a:extLst xmlns:a="http://schemas.openxmlformats.org/drawingml/2006/main">
              <a:ext uri="{FF2B5EF4-FFF2-40B4-BE49-F238E27FC236}">
                <a16:creationId xmlns:a16="http://schemas.microsoft.com/office/drawing/2014/main" id="{664F9FCC-71A4-4565-AC1E-A13A82CD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76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8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adiness-1077-365">
            <a:extLst xmlns:a="http://schemas.openxmlformats.org/drawingml/2006/main">
              <a:ext uri="{FF2B5EF4-FFF2-40B4-BE49-F238E27FC236}">
                <a16:creationId xmlns:a16="http://schemas.microsoft.com/office/drawing/2014/main" id="{F4BFF465-042E-4083-A537-4820148E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476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adiness-row-3">
            <a:extLst xmlns:a="http://schemas.openxmlformats.org/drawingml/2006/main">
              <a:ext uri="{FF2B5EF4-FFF2-40B4-BE49-F238E27FC236}">
                <a16:creationId xmlns:a16="http://schemas.microsoft.com/office/drawing/2014/main" id="{E2C06134-AC1A-4CDA-869E-A88887B6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C5E62A-6F7B-454E-A67D-4EF90CDD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Part 2 solutions</a:t>
            </a:r>
          </a:p>
        </p:txBody>
      </p:sp>
      <p:sp>
        <p:nvSpPr>
          <p:cNvPr id="31" name="readiness-430-423">
            <a:extLst xmlns:a="http://schemas.openxmlformats.org/drawingml/2006/main">
              <a:ext uri="{FF2B5EF4-FFF2-40B4-BE49-F238E27FC236}">
                <a16:creationId xmlns:a16="http://schemas.microsoft.com/office/drawing/2014/main" id="{D9EE56E4-ABA8-40C2-BF08-33EA28AD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29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2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adiness-628-423">
            <a:extLst xmlns:a="http://schemas.openxmlformats.org/drawingml/2006/main">
              <a:ext uri="{FF2B5EF4-FFF2-40B4-BE49-F238E27FC236}">
                <a16:creationId xmlns:a16="http://schemas.microsoft.com/office/drawing/2014/main" id="{61E1D3B0-9506-44F9-B591-A1546D7D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29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adiness-826-423">
            <a:extLst xmlns:a="http://schemas.openxmlformats.org/drawingml/2006/main">
              <a:ext uri="{FF2B5EF4-FFF2-40B4-BE49-F238E27FC236}">
                <a16:creationId xmlns:a16="http://schemas.microsoft.com/office/drawing/2014/main" id="{88E7F1BE-951D-4479-AE2A-C803F291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29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8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adiness-1077-423">
            <a:extLst xmlns:a="http://schemas.openxmlformats.org/drawingml/2006/main">
              <a:ext uri="{FF2B5EF4-FFF2-40B4-BE49-F238E27FC236}">
                <a16:creationId xmlns:a16="http://schemas.microsoft.com/office/drawing/2014/main" id="{A5F604BC-B764-4E7C-AA91-0099BD59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029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5A9B59-54C8-4D32-93DF-B0F672FB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256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237256"/>
                </a:solidFill>
                <a:latin typeface="Segoe UI"/>
                <a:ea typeface="Segoe UI"/>
                <a:cs typeface="Segoe UI"/>
              </a:rPr>
              <a:t>Ready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95D049-0685-44F8-86AA-8941F797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14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861A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6861A"/>
                </a:solidFill>
                <a:latin typeface="Segoe UI"/>
                <a:ea typeface="Segoe UI"/>
                <a:cs typeface="Segoe UI"/>
              </a:rPr>
              <a:t>In progress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E0BFA0-807E-4A62-B276-EA369C78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148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413A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B9413A"/>
                </a:solidFill>
                <a:latin typeface="Segoe UI"/>
                <a:ea typeface="Segoe UI"/>
                <a:cs typeface="Segoe UI"/>
              </a:rPr>
              <a:t>Pending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8DE726-D9BC-4A26-B16A-84D76119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861A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6861A"/>
                </a:solidFill>
                <a:latin typeface="Segoe UI"/>
                <a:ea typeface="Segoe UI"/>
                <a:cs typeface="Segoe UI"/>
              </a:rPr>
              <a:t>NEXT SPRINT</a:t>
            </a:r>
          </a:p>
        </p:txBody>
      </p:sp>
      <p:sp>
        <p:nvSpPr>
          <p:cNvPr id="39" name="next-action-0">
            <a:extLst xmlns:a="http://schemas.openxmlformats.org/drawingml/2006/main">
              <a:ext uri="{FF2B5EF4-FFF2-40B4-BE49-F238E27FC236}">
                <a16:creationId xmlns:a16="http://schemas.microsoft.com/office/drawing/2014/main" id="{58A6A3B8-551C-4AA0-B84B-02402215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335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C36"/>
          </a:solidFill>
          <a:ln xmlns:a="http://schemas.openxmlformats.org/drawingml/2006/main" w="9525">
            <a:solidFill>
              <a:srgbClr val="42505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CF77C4-56DD-49E9-A40D-F0A52E42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413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9413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5A3CCA-6A43-489B-AD21-F8238A30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14950"/>
            <a:ext cx="2324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Integrate Part 2 data-generation scripts</a:t>
            </a:r>
          </a:p>
        </p:txBody>
      </p:sp>
      <p:sp>
        <p:nvSpPr>
          <p:cNvPr id="42" name="next-action-1">
            <a:extLst xmlns:a="http://schemas.openxmlformats.org/drawingml/2006/main">
              <a:ext uri="{FF2B5EF4-FFF2-40B4-BE49-F238E27FC236}">
                <a16:creationId xmlns:a16="http://schemas.microsoft.com/office/drawing/2014/main" id="{E384DA9C-5B67-4079-B2B4-DFF5D15B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19700"/>
            <a:ext cx="335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C36"/>
          </a:solidFill>
          <a:ln xmlns:a="http://schemas.openxmlformats.org/drawingml/2006/main" w="9525">
            <a:solidFill>
              <a:srgbClr val="42505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5B6BC6-E85B-4FA4-A1FC-AD740DED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4102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6861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C6861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B1409B-A394-4F1C-B871-05DB5745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14950"/>
            <a:ext cx="2324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Execute solutions and publish Colab path</a:t>
            </a:r>
          </a:p>
        </p:txBody>
      </p:sp>
      <p:sp>
        <p:nvSpPr>
          <p:cNvPr id="45" name="next-action-2">
            <a:extLst xmlns:a="http://schemas.openxmlformats.org/drawingml/2006/main">
              <a:ext uri="{FF2B5EF4-FFF2-40B4-BE49-F238E27FC236}">
                <a16:creationId xmlns:a16="http://schemas.microsoft.com/office/drawing/2014/main" id="{B80B35D4-EA13-45C0-BB77-7235BB47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335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C36"/>
          </a:solidFill>
          <a:ln xmlns:a="http://schemas.openxmlformats.org/drawingml/2006/main" w="9525">
            <a:solidFill>
              <a:srgbClr val="42505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35C476-4AAA-4C64-B17D-CB87C44D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4102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725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3725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0354D7-8122-4235-8905-404BD84D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14950"/>
            <a:ext cx="2324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Run a novice EE learner pilot</a:t>
            </a:r>
          </a:p>
        </p:txBody>
      </p:sp>
      <p:sp>
        <p:nvSpPr>
          <p:cNvPr id="48" name="footer-18-rule">
            <a:extLst xmlns:a="http://schemas.openxmlformats.org/drawingml/2006/main">
              <a:ext uri="{FF2B5EF4-FFF2-40B4-BE49-F238E27FC236}">
                <a16:creationId xmlns:a16="http://schemas.microsoft.com/office/drawing/2014/main" id="{90A1CA9B-961E-4FF3-866F-A338008B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footer-18-source">
            <a:extLst xmlns:a="http://schemas.openxmlformats.org/drawingml/2006/main">
              <a:ext uri="{FF2B5EF4-FFF2-40B4-BE49-F238E27FC236}">
                <a16:creationId xmlns:a16="http://schemas.microsoft.com/office/drawing/2014/main" id="{6D0C7F21-B727-43A6-960D-AA3A5691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EABB6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9EABB6"/>
                </a:solidFill>
                <a:latin typeface="Segoe UI"/>
                <a:ea typeface="Segoe UI"/>
                <a:cs typeface="Segoe UI"/>
              </a:rPr>
              <a:t>Current repository audit; readiness reflects notebook execution and learner-validation evidence</a:t>
            </a:r>
          </a:p>
        </p:txBody>
      </p:sp>
      <p:sp>
        <p:nvSpPr>
          <p:cNvPr id="50" name="footer-18-number">
            <a:extLst xmlns:a="http://schemas.openxmlformats.org/drawingml/2006/main">
              <a:ext uri="{FF2B5EF4-FFF2-40B4-BE49-F238E27FC236}">
                <a16:creationId xmlns:a16="http://schemas.microsoft.com/office/drawing/2014/main" id="{9B584198-EE9C-40AD-B7BD-1DB59453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EABB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9EABB6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1222037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4818BF2-30BD-4B5C-82ED-42CAAA2D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BF31A1D9-9073-4BDC-B0EE-15E8D95B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EF14A7F0-486C-49F5-8FD3-AF89080B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BACKUP / PART 1 EVIDENCE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C38295A-79A1-4A9F-B121-4BE67478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Selection and diagnosis remain inspectable beyond the headline RMSE.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8086B-BA59-4DDC-9C2D-5915A841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7A7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457A7"/>
                </a:solidFill>
                <a:latin typeface="Segoe UI"/>
                <a:ea typeface="Segoe UI"/>
                <a:cs typeface="Segoe UI"/>
              </a:rPr>
              <a:t>ACTIVATION RANKING</a:t>
            </a:r>
          </a:p>
        </p:txBody>
      </p:sp>
      <p:sp>
        <p:nvSpPr>
          <p:cNvPr id="6" name="p1-backup-ranking-panel">
            <a:extLst xmlns:a="http://schemas.openxmlformats.org/drawingml/2006/main">
              <a:ext uri="{FF2B5EF4-FFF2-40B4-BE49-F238E27FC236}">
                <a16:creationId xmlns:a16="http://schemas.microsoft.com/office/drawing/2014/main" id="{4F81B8F0-D7A1-48EA-AA2E-4F3B580C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1125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21433df3148e1"/>
          <a:stretch xmlns:a="http://schemas.openxmlformats.org/drawingml/2006/main"/>
        </p:blipFill>
        <p:spPr>
          <a:xfrm xmlns:a="http://schemas.openxmlformats.org/drawingml/2006/main">
            <a:off x="2129316" y="1981200"/>
            <a:ext cx="7933367" cy="2019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0F62F-8DC0-4818-B9C5-03C4C233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529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7A7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2457A7"/>
                </a:solidFill>
                <a:latin typeface="Segoe UI"/>
                <a:ea typeface="Segoe UI"/>
                <a:cs typeface="Segoe UI"/>
              </a:rPr>
              <a:t>RMSE BY CUSTOMER</a:t>
            </a:r>
          </a:p>
        </p:txBody>
      </p:sp>
      <p:sp>
        <p:nvSpPr>
          <p:cNvPr id="9" name="p1-backup-customer-rmse-panel">
            <a:extLst xmlns:a="http://schemas.openxmlformats.org/drawingml/2006/main">
              <a:ext uri="{FF2B5EF4-FFF2-40B4-BE49-F238E27FC236}">
                <a16:creationId xmlns:a16="http://schemas.microsoft.com/office/drawing/2014/main" id="{E93A8E3F-D885-43EB-BCB5-D674FC27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52959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338ef9a844aaf"/>
          <a:stretch xmlns:a="http://schemas.openxmlformats.org/drawingml/2006/main"/>
        </p:blipFill>
        <p:spPr>
          <a:xfrm xmlns:a="http://schemas.openxmlformats.org/drawingml/2006/main">
            <a:off x="1440473" y="4619625"/>
            <a:ext cx="3481754" cy="13716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19F92-7EB7-4787-B0D7-C8664E66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86250"/>
            <a:ext cx="550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413A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B9413A"/>
                </a:solidFill>
                <a:latin typeface="Segoe UI"/>
                <a:ea typeface="Segoe UI"/>
                <a:cs typeface="Segoe UI"/>
              </a:rPr>
              <a:t>WORST-CUSTOMER RESIDUAL</a:t>
            </a:r>
          </a:p>
        </p:txBody>
      </p:sp>
      <p:sp>
        <p:nvSpPr>
          <p:cNvPr id="12" name="p1-backup-residual-panel">
            <a:extLst xmlns:a="http://schemas.openxmlformats.org/drawingml/2006/main">
              <a:ext uri="{FF2B5EF4-FFF2-40B4-BE49-F238E27FC236}">
                <a16:creationId xmlns:a16="http://schemas.microsoft.com/office/drawing/2014/main" id="{409A94F7-40A8-4B67-9391-E81081A5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52950"/>
            <a:ext cx="55054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e1619e2764d7f"/>
          <a:stretch xmlns:a="http://schemas.openxmlformats.org/drawingml/2006/main"/>
        </p:blipFill>
        <p:spPr>
          <a:xfrm xmlns:a="http://schemas.openxmlformats.org/drawingml/2006/main">
            <a:off x="6707281" y="4619625"/>
            <a:ext cx="4397188" cy="1371600"/>
          </a:xfrm>
          <a:prstGeom xmlns:a="http://schemas.openxmlformats.org/drawingml/2006/main" prst="rect">
            <a:avLst/>
          </a:prstGeom>
        </p:spPr>
      </p:pic>
      <p:sp>
        <p:nvSpPr>
          <p:cNvPr id="14" name="footer-19-rule">
            <a:extLst xmlns:a="http://schemas.openxmlformats.org/drawingml/2006/main">
              <a:ext uri="{FF2B5EF4-FFF2-40B4-BE49-F238E27FC236}">
                <a16:creationId xmlns:a16="http://schemas.microsoft.com/office/drawing/2014/main" id="{BB0F3095-16D2-489E-913A-A83F0100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footer-19-source">
            <a:extLst xmlns:a="http://schemas.openxmlformats.org/drawingml/2006/main">
              <a:ext uri="{FF2B5EF4-FFF2-40B4-BE49-F238E27FC236}">
                <a16:creationId xmlns:a16="http://schemas.microsoft.com/office/drawing/2014/main" id="{903A87BF-44A1-4A9F-964A-60E36FEB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Backup sources: Tutorial 1 cells 46 and 48; Tutorial 1 solutions, Exercise 2</a:t>
            </a:r>
          </a:p>
        </p:txBody>
      </p:sp>
      <p:sp>
        <p:nvSpPr>
          <p:cNvPr id="16" name="footer-19-number">
            <a:extLst xmlns:a="http://schemas.openxmlformats.org/drawingml/2006/main">
              <a:ext uri="{FF2B5EF4-FFF2-40B4-BE49-F238E27FC236}">
                <a16:creationId xmlns:a16="http://schemas.microsoft.com/office/drawing/2014/main" id="{74F09864-154C-4004-A0B5-CB079088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7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5717B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9111522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9ED93F4-AAD4-45B4-AEE1-418B0731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0-marker">
            <a:extLst xmlns:a="http://schemas.openxmlformats.org/drawingml/2006/main">
              <a:ext uri="{FF2B5EF4-FFF2-40B4-BE49-F238E27FC236}">
                <a16:creationId xmlns:a16="http://schemas.microsoft.com/office/drawing/2014/main" id="{9533C68E-95CD-4BF7-BE78-2D44822B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0-label">
            <a:extLst xmlns:a="http://schemas.openxmlformats.org/drawingml/2006/main">
              <a:ext uri="{FF2B5EF4-FFF2-40B4-BE49-F238E27FC236}">
                <a16:creationId xmlns:a16="http://schemas.microsoft.com/office/drawing/2014/main" id="{B06F1216-A206-46C0-880A-E2C19C4F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BACKUP / PART 2 SENSITIVITY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E008463-23C6-473E-BF3C-9B5BB080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Reference quality and proxy shift expose the limits of the recovery strategy.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86BCF-8748-4FCC-BCCC-C7C18C21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695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413A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B9413A"/>
                </a:solidFill>
                <a:latin typeface="Segoe UI"/>
                <a:ea typeface="Segoe UI"/>
                <a:cs typeface="Segoe UI"/>
              </a:rPr>
              <a:t>REFERENCE COUNT, LOCATION AND NOISE</a:t>
            </a:r>
          </a:p>
        </p:txBody>
      </p:sp>
      <p:sp>
        <p:nvSpPr>
          <p:cNvPr id="6" name="p2-reference-sensitivity-panel">
            <a:extLst xmlns:a="http://schemas.openxmlformats.org/drawingml/2006/main">
              <a:ext uri="{FF2B5EF4-FFF2-40B4-BE49-F238E27FC236}">
                <a16:creationId xmlns:a16="http://schemas.microsoft.com/office/drawing/2014/main" id="{FB33ACA7-9FF4-49DB-B26D-DCAC4FAC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6953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3d5849bcf476a"/>
          <a:stretch xmlns:a="http://schemas.openxmlformats.org/drawingml/2006/main"/>
        </p:blipFill>
        <p:spPr>
          <a:xfrm xmlns:a="http://schemas.openxmlformats.org/drawingml/2006/main">
            <a:off x="609600" y="2095226"/>
            <a:ext cx="6800850" cy="181029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8ECE4-3462-4046-80CC-DBF5F548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88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413A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B9413A"/>
                </a:solidFill>
                <a:latin typeface="Segoe UI"/>
                <a:ea typeface="Segoe UI"/>
                <a:cs typeface="Segoe UI"/>
              </a:rPr>
              <a:t>PROXY STRESS TEST</a:t>
            </a:r>
          </a:p>
        </p:txBody>
      </p:sp>
      <p:sp>
        <p:nvSpPr>
          <p:cNvPr id="9" name="p2-proxy-stress-panel">
            <a:extLst xmlns:a="http://schemas.openxmlformats.org/drawingml/2006/main">
              <a:ext uri="{FF2B5EF4-FFF2-40B4-BE49-F238E27FC236}">
                <a16:creationId xmlns:a16="http://schemas.microsoft.com/office/drawing/2014/main" id="{E38E994C-C737-48F1-AAFB-350AF98E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24050"/>
            <a:ext cx="38862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dd881001341eb"/>
          <a:stretch xmlns:a="http://schemas.openxmlformats.org/drawingml/2006/main"/>
        </p:blipFill>
        <p:spPr>
          <a:xfrm xmlns:a="http://schemas.openxmlformats.org/drawingml/2006/main">
            <a:off x="7848600" y="2078741"/>
            <a:ext cx="3733800" cy="1843268"/>
          </a:xfrm>
          <a:prstGeom xmlns:a="http://schemas.openxmlformats.org/drawingml/2006/main" prst="rect">
            <a:avLst/>
          </a:prstGeom>
        </p:spPr>
      </p:pic>
      <p:sp>
        <p:nvSpPr>
          <p:cNvPr id="11" name="sensitivity-takeaway">
            <a:extLst xmlns:a="http://schemas.openxmlformats.org/drawingml/2006/main">
              <a:ext uri="{FF2B5EF4-FFF2-40B4-BE49-F238E27FC236}">
                <a16:creationId xmlns:a16="http://schemas.microsoft.com/office/drawing/2014/main" id="{24761D6B-BE3E-408B-BE03-17BA01A4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11125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C900F-D524-4C77-B251-2FEF3B33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861A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6861A"/>
                </a:solidFill>
                <a:latin typeface="Segoe UI"/>
                <a:ea typeface="Segoe UI"/>
                <a:cs typeface="Segoe UI"/>
              </a:rPr>
              <a:t>EXPLORATORY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01037-B5FC-45BB-BEAE-2F9D2E10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0.0825 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635B5-FDA7-43A0-98EC-02EC4955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D0D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7D0D8"/>
                </a:solidFill>
                <a:latin typeface="Segoe UI"/>
                <a:ea typeface="Segoe UI"/>
                <a:cs typeface="Segoe UI"/>
              </a:rPr>
              <a:t>at 0.05% meter noise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10E56-49CF-4585-818F-6C96BBC3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339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9413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B9413A"/>
                </a:solidFill>
                <a:latin typeface="Georgia"/>
                <a:ea typeface="Georgia"/>
                <a:cs typeface="Georgia"/>
              </a:rPr>
              <a:t>0.5579 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D84CD-88B4-4A74-9C8B-1BE491DF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53050"/>
            <a:ext cx="2457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D0D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7D0D8"/>
                </a:solidFill>
                <a:latin typeface="Segoe UI"/>
                <a:ea typeface="Segoe UI"/>
                <a:cs typeface="Segoe UI"/>
              </a:rPr>
              <a:t>288-slot proxy after a 2 h shift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FD54D-3811-4090-A800-F0DC6531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0100"/>
            <a:ext cx="285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44CDF-EB0E-4123-A5E9-23FB4508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4629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Use these to teach sensitivity, not as the headline comparison: cells 34 and 37 use different evaluated scopes and feature setups from the formal C4-C31 result.</a:t>
            </a:r>
          </a:p>
        </p:txBody>
      </p:sp>
      <p:sp>
        <p:nvSpPr>
          <p:cNvPr id="19" name="footer-20-rule">
            <a:extLst xmlns:a="http://schemas.openxmlformats.org/drawingml/2006/main">
              <a:ext uri="{FF2B5EF4-FFF2-40B4-BE49-F238E27FC236}">
                <a16:creationId xmlns:a16="http://schemas.microsoft.com/office/drawing/2014/main" id="{188E2757-3BA2-409B-B732-8296B595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footer-20-source">
            <a:extLst xmlns:a="http://schemas.openxmlformats.org/drawingml/2006/main">
              <a:ext uri="{FF2B5EF4-FFF2-40B4-BE49-F238E27FC236}">
                <a16:creationId xmlns:a16="http://schemas.microsoft.com/office/drawing/2014/main" id="{D6430962-EA8D-45EC-8400-76B67D39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5717B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65717B"/>
                </a:solidFill>
                <a:latin typeface="Segoe UI"/>
                <a:ea typeface="Segoe UI"/>
                <a:cs typeface="Segoe UI"/>
              </a:rPr>
              <a:t>Backup sources: Tutorial 2 cells 34 and 37; exploratory scopes differ from cell 40</a:t>
            </a:r>
          </a:p>
        </p:txBody>
      </p:sp>
      <p:sp>
        <p:nvSpPr>
          <p:cNvPr id="21" name="footer-20-number">
            <a:extLst xmlns:a="http://schemas.openxmlformats.org/drawingml/2006/main">
              <a:ext uri="{FF2B5EF4-FFF2-40B4-BE49-F238E27FC236}">
                <a16:creationId xmlns:a16="http://schemas.microsoft.com/office/drawing/2014/main" id="{0941C199-F7E1-47E2-8406-7F3F50F3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7B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5717B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9573693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B95B40C-4396-459E-8007-08F25321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1-marker">
            <a:extLst xmlns:a="http://schemas.openxmlformats.org/drawingml/2006/main">
              <a:ext uri="{FF2B5EF4-FFF2-40B4-BE49-F238E27FC236}">
                <a16:creationId xmlns:a16="http://schemas.microsoft.com/office/drawing/2014/main" id="{7FC87A6F-0DAF-4735-B930-B18964E9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1-label">
            <a:extLst xmlns:a="http://schemas.openxmlformats.org/drawingml/2006/main">
              <a:ext uri="{FF2B5EF4-FFF2-40B4-BE49-F238E27FC236}">
                <a16:creationId xmlns:a16="http://schemas.microsoft.com/office/drawing/2014/main" id="{ED1237D6-1C55-4EAF-9712-DFDAE5EF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4DCE3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D4DCE3"/>
                </a:solidFill>
                <a:latin typeface="Segoe UI"/>
                <a:ea typeface="Segoe UI"/>
                <a:cs typeface="Segoe UI"/>
              </a:rPr>
              <a:t>BACKUP / REPRODUCIBILITY BOUNDARY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6B8FB0E-564A-4951-8505-36BCF840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What the current repository evidence does - and does not - prove.</a:t>
            </a:r>
          </a:p>
        </p:txBody>
      </p:sp>
      <p:sp>
        <p:nvSpPr>
          <p:cNvPr id="5" name="p1-repro-panel">
            <a:extLst xmlns:a="http://schemas.openxmlformats.org/drawingml/2006/main">
              <a:ext uri="{FF2B5EF4-FFF2-40B4-BE49-F238E27FC236}">
                <a16:creationId xmlns:a16="http://schemas.microsoft.com/office/drawing/2014/main" id="{2CD39F7E-1B24-495B-B30D-7C3FE2A7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2959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C36"/>
          </a:solidFill>
          <a:ln xmlns:a="http://schemas.openxmlformats.org/drawingml/2006/main" w="9525">
            <a:solidFill>
              <a:srgbClr val="4250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9952C-673E-4EE5-9BFB-52AC326E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A7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457A7"/>
                </a:solidFill>
                <a:latin typeface="Segoe UI"/>
                <a:ea typeface="Segoe UI"/>
                <a:cs typeface="Segoe UI"/>
              </a:rPr>
              <a:t>PART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8E4C5-9ACA-49E5-9E33-743AAD82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533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Runs inside the notebook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197AD-D4F1-4319-BA1C-E60A75AC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4514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5DDE4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5DDE4"/>
                </a:solidFill>
                <a:latin typeface="Segoe UI"/>
                <a:ea typeface="Segoe UI"/>
                <a:cs typeface="Segoe UI"/>
              </a:rPr>
              <a:t>- loads train/test P/Q and V</a:t>
            </a:r>
          </a:p>
          <a:p xmlns:a="http://schemas.openxmlformats.org/drawingml/2006/main">
            <a:pPr algn="l">
              <a:defRPr sz="1425" b="1">
                <a:solidFill>
                  <a:srgbClr val="D5DDE4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5DDE4"/>
                </a:solidFill>
                <a:latin typeface="Segoe UI"/>
                <a:ea typeface="Segoe UI"/>
                <a:cs typeface="Segoe UI"/>
              </a:rPr>
              <a:t>- trains and evaluates models</a:t>
            </a:r>
          </a:p>
          <a:p xmlns:a="http://schemas.openxmlformats.org/drawingml/2006/main">
            <a:pPr algn="l">
              <a:defRPr sz="1425" b="1">
                <a:solidFill>
                  <a:srgbClr val="D5DDE4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5DDE4"/>
                </a:solidFill>
                <a:latin typeface="Segoe UI"/>
                <a:ea typeface="Segoe UI"/>
                <a:cs typeface="Segoe UI"/>
              </a:rPr>
              <a:t>- renders diagnostics and exercise outputs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39A5F-8F25-4F9B-809C-38074A4C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53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861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6861A"/>
                </a:solidFill>
                <a:latin typeface="Segoe UI"/>
                <a:ea typeface="Segoe UI"/>
                <a:cs typeface="Segoe UI"/>
              </a:rPr>
              <a:t>Clarify seed-CSV test provenance before release.</a:t>
            </a:r>
          </a:p>
        </p:txBody>
      </p:sp>
      <p:sp>
        <p:nvSpPr>
          <p:cNvPr id="10" name="p2-repro-panel">
            <a:extLst xmlns:a="http://schemas.openxmlformats.org/drawingml/2006/main">
              <a:ext uri="{FF2B5EF4-FFF2-40B4-BE49-F238E27FC236}">
                <a16:creationId xmlns:a16="http://schemas.microsoft.com/office/drawing/2014/main" id="{A83922B4-6CAB-4474-8203-02CCFF49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55626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C36"/>
          </a:solidFill>
          <a:ln xmlns:a="http://schemas.openxmlformats.org/drawingml/2006/main" w="9525">
            <a:solidFill>
              <a:srgbClr val="4250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89942-7674-4374-BDDD-FCC48576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13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B9413A"/>
                </a:solidFill>
                <a:latin typeface="Segoe UI"/>
                <a:ea typeface="Segoe UI"/>
                <a:cs typeface="Segoe UI"/>
              </a:rPr>
              <a:t>PART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3964B-AC60-4C63-8B82-863B709C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Loads prepared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6CE7D-F34C-4A7A-90F1-EBF44C20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0350"/>
            <a:ext cx="4781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5DDE4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5DDE4"/>
                </a:solidFill>
                <a:latin typeface="Segoe UI"/>
                <a:ea typeface="Segoe UI"/>
                <a:cs typeface="Segoe UI"/>
              </a:rPr>
              <a:t>- loads fixed-MV and varying-MV datasets</a:t>
            </a:r>
          </a:p>
          <a:p xmlns:a="http://schemas.openxmlformats.org/drawingml/2006/main">
            <a:pPr algn="l">
              <a:defRPr sz="1425" b="1">
                <a:solidFill>
                  <a:srgbClr val="D5DDE4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5DDE4"/>
                </a:solidFill>
                <a:latin typeface="Segoe UI"/>
                <a:ea typeface="Segoe UI"/>
                <a:cs typeface="Segoe UI"/>
              </a:rPr>
              <a:t>- reads precomputed result CSVs</a:t>
            </a:r>
          </a:p>
          <a:p xmlns:a="http://schemas.openxmlformats.org/drawingml/2006/main">
            <a:pPr algn="l">
              <a:defRPr sz="1425" b="1">
                <a:solidFill>
                  <a:srgbClr val="D5DDE4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5DDE4"/>
                </a:solidFill>
                <a:latin typeface="Segoe UI"/>
                <a:ea typeface="Segoe UI"/>
                <a:cs typeface="Segoe UI"/>
              </a:rPr>
              <a:t>- tutorial outputs are executed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9ACBF-1BD4-4EDB-A5A8-A68B65AD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78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413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B9413A"/>
                </a:solidFill>
                <a:latin typeface="Segoe UI"/>
                <a:ea typeface="Segoe UI"/>
                <a:cs typeface="Segoe UI"/>
              </a:rPr>
              <a:t>Headline generation scripts are not yet in the repo.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491E2-4B33-482B-BCD0-5F7191AF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861A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6861A"/>
                </a:solidFill>
                <a:latin typeface="Segoe UI"/>
                <a:ea typeface="Segoe UI"/>
                <a:cs typeface="Segoe UI"/>
              </a:rPr>
              <a:t>SHARED LIMITATIONS</a:t>
            </a:r>
          </a:p>
        </p:txBody>
      </p:sp>
      <p:sp>
        <p:nvSpPr>
          <p:cNvPr id="16" name="limitation-0">
            <a:extLst xmlns:a="http://schemas.openxmlformats.org/drawingml/2006/main">
              <a:ext uri="{FF2B5EF4-FFF2-40B4-BE49-F238E27FC236}">
                <a16:creationId xmlns:a16="http://schemas.microsoft.com/office/drawing/2014/main" id="{B631A621-16BA-4727-8B26-851A2CB7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335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9525">
            <a:solidFill>
              <a:srgbClr val="4250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06AA5-D16B-4016-9CC8-6FCA5B05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6861A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C6861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3984E-5F2A-46AB-9EAC-07095897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3400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One simulated 31-customer feeder</a:t>
            </a:r>
          </a:p>
        </p:txBody>
      </p:sp>
      <p:sp>
        <p:nvSpPr>
          <p:cNvPr id="19" name="limitation-1">
            <a:extLst xmlns:a="http://schemas.openxmlformats.org/drawingml/2006/main">
              <a:ext uri="{FF2B5EF4-FFF2-40B4-BE49-F238E27FC236}">
                <a16:creationId xmlns:a16="http://schemas.microsoft.com/office/drawing/2014/main" id="{76AA9408-5CDE-461A-B26B-5A2CFCB4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19700"/>
            <a:ext cx="335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9525">
            <a:solidFill>
              <a:srgbClr val="4250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7B31B-252B-42C6-A0B8-D3F6ACAE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91150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6861A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C6861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780F9-7542-4F50-A7E2-D31B4434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33400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One upstream variation pattern</a:t>
            </a:r>
          </a:p>
        </p:txBody>
      </p:sp>
      <p:sp>
        <p:nvSpPr>
          <p:cNvPr id="22" name="limitation-2">
            <a:extLst xmlns:a="http://schemas.openxmlformats.org/drawingml/2006/main">
              <a:ext uri="{FF2B5EF4-FFF2-40B4-BE49-F238E27FC236}">
                <a16:creationId xmlns:a16="http://schemas.microsoft.com/office/drawing/2014/main" id="{3489D94A-F7EA-4E19-A90A-990C5377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335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9525">
            <a:solidFill>
              <a:srgbClr val="4250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01E19-B635-4604-B451-9E75CDAF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91150"/>
            <a:ext cx="47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6861A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C6861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F09C4F-CA76-4AC2-BCFE-89D70F38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3400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 novice learner pilot yet</a:t>
            </a:r>
          </a:p>
        </p:txBody>
      </p:sp>
      <p:sp>
        <p:nvSpPr>
          <p:cNvPr id="25" name="footer-21-rule">
            <a:extLst xmlns:a="http://schemas.openxmlformats.org/drawingml/2006/main">
              <a:ext uri="{FF2B5EF4-FFF2-40B4-BE49-F238E27FC236}">
                <a16:creationId xmlns:a16="http://schemas.microsoft.com/office/drawing/2014/main" id="{706F89DC-ABCA-49DD-932E-B0BECD68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footer-21-source">
            <a:extLst xmlns:a="http://schemas.openxmlformats.org/drawingml/2006/main">
              <a:ext uri="{FF2B5EF4-FFF2-40B4-BE49-F238E27FC236}">
                <a16:creationId xmlns:a16="http://schemas.microsoft.com/office/drawing/2014/main" id="{6BDB50DD-71E4-4B97-94F5-8371387F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EABB6"/>
                </a:solidFill>
                <a:latin typeface="Segoe UI"/>
                <a:ea typeface="Segoe UI"/>
                <a:cs typeface="Segoe UI"/>
              </a:defRPr>
            </a:pPr>
            <a:r>
              <a:rPr sz="600" b="0">
                <a:solidFill>
                  <a:srgbClr val="9EABB6"/>
                </a:solidFill>
                <a:latin typeface="Segoe UI"/>
                <a:ea typeface="Segoe UI"/>
                <a:cs typeface="Segoe UI"/>
              </a:rPr>
              <a:t>Backup source: repository and notebook execution audit</a:t>
            </a:r>
          </a:p>
        </p:txBody>
      </p:sp>
      <p:sp>
        <p:nvSpPr>
          <p:cNvPr id="27" name="footer-21-number">
            <a:extLst xmlns:a="http://schemas.openxmlformats.org/drawingml/2006/main">
              <a:ext uri="{FF2B5EF4-FFF2-40B4-BE49-F238E27FC236}">
                <a16:creationId xmlns:a16="http://schemas.microsoft.com/office/drawing/2014/main" id="{DCCAFE56-5CE6-4A9C-9678-997B1C69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EABB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9EABB6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4485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2026-08-25T08:44:26.8910000Z</dcterms:created>
  <dcterms:modified xsi:type="dcterms:W3CDTF">2026-08-25T08:44:26.8910000Z</dcterms:modified>
</coreProperties>
</file>